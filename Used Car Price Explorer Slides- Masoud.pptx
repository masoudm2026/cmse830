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67" r:id="rId5"/>
    <p:sldId id="268" r:id="rId6"/>
    <p:sldId id="259" r:id="rId7"/>
    <p:sldId id="269" r:id="rId8"/>
    <p:sldId id="260" r:id="rId9"/>
    <p:sldId id="270" r:id="rId10"/>
    <p:sldId id="271" r:id="rId11"/>
    <p:sldId id="273" r:id="rId12"/>
    <p:sldId id="275" r:id="rId13"/>
    <p:sldId id="276" r:id="rId14"/>
    <p:sldId id="277" r:id="rId15"/>
    <p:sldId id="261" r:id="rId16"/>
    <p:sldId id="26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2742E3-64CE-46E4-96FB-640C0CAB1060}" v="11" dt="2026-10-22T02:36:54.7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283" autoAdjust="0"/>
  </p:normalViewPr>
  <p:slideViewPr>
    <p:cSldViewPr snapToGrid="0" snapToObjects="1">
      <p:cViewPr varScale="1">
        <p:scale>
          <a:sx n="101" d="100"/>
          <a:sy n="101" d="100"/>
        </p:scale>
        <p:origin x="95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oud moradi" userId="f91bf32a8f6ddd3e" providerId="LiveId" clId="{0B409D86-DF32-4729-A546-18B6C750EE50}"/>
    <pc:docChg chg="undo custSel modSld">
      <pc:chgData name="Masoud moradi" userId="f91bf32a8f6ddd3e" providerId="LiveId" clId="{0B409D86-DF32-4729-A546-18B6C750EE50}" dt="2026-10-22T02:37:11.103" v="532" actId="20577"/>
      <pc:docMkLst>
        <pc:docMk/>
      </pc:docMkLst>
      <pc:sldChg chg="modSp mod">
        <pc:chgData name="Masoud moradi" userId="f91bf32a8f6ddd3e" providerId="LiveId" clId="{0B409D86-DF32-4729-A546-18B6C750EE50}" dt="2026-10-22T00:31:42.734" v="141" actId="20577"/>
        <pc:sldMkLst>
          <pc:docMk/>
          <pc:sldMk cId="0" sldId="258"/>
        </pc:sldMkLst>
        <pc:spChg chg="mod">
          <ac:chgData name="Masoud moradi" userId="f91bf32a8f6ddd3e" providerId="LiveId" clId="{0B409D86-DF32-4729-A546-18B6C750EE50}" dt="2026-10-22T00:31:42.734" v="141" actId="20577"/>
          <ac:spMkLst>
            <pc:docMk/>
            <pc:sldMk cId="0" sldId="258"/>
            <ac:spMk id="4" creationId="{00000000-0000-0000-0000-000000000000}"/>
          </ac:spMkLst>
        </pc:spChg>
      </pc:sldChg>
      <pc:sldChg chg="delSp modSp mod">
        <pc:chgData name="Masoud moradi" userId="f91bf32a8f6ddd3e" providerId="LiveId" clId="{0B409D86-DF32-4729-A546-18B6C750EE50}" dt="2026-10-22T00:42:01.809" v="253" actId="113"/>
        <pc:sldMkLst>
          <pc:docMk/>
          <pc:sldMk cId="0" sldId="259"/>
        </pc:sldMkLst>
        <pc:spChg chg="del">
          <ac:chgData name="Masoud moradi" userId="f91bf32a8f6ddd3e" providerId="LiveId" clId="{0B409D86-DF32-4729-A546-18B6C750EE50}" dt="2026-10-22T00:39:15.051" v="194" actId="478"/>
          <ac:spMkLst>
            <pc:docMk/>
            <pc:sldMk cId="0" sldId="259"/>
            <ac:spMk id="5" creationId="{00000000-0000-0000-0000-000000000000}"/>
          </ac:spMkLst>
        </pc:spChg>
        <pc:spChg chg="del">
          <ac:chgData name="Masoud moradi" userId="f91bf32a8f6ddd3e" providerId="LiveId" clId="{0B409D86-DF32-4729-A546-18B6C750EE50}" dt="2026-10-22T00:41:22.801" v="248" actId="478"/>
          <ac:spMkLst>
            <pc:docMk/>
            <pc:sldMk cId="0" sldId="259"/>
            <ac:spMk id="27" creationId="{00000000-0000-0000-0000-000000000000}"/>
          </ac:spMkLst>
        </pc:spChg>
        <pc:spChg chg="del">
          <ac:chgData name="Masoud moradi" userId="f91bf32a8f6ddd3e" providerId="LiveId" clId="{0B409D86-DF32-4729-A546-18B6C750EE50}" dt="2026-10-22T00:41:13.915" v="246" actId="478"/>
          <ac:spMkLst>
            <pc:docMk/>
            <pc:sldMk cId="0" sldId="259"/>
            <ac:spMk id="29" creationId="{00000000-0000-0000-0000-000000000000}"/>
          </ac:spMkLst>
        </pc:spChg>
        <pc:spChg chg="mod">
          <ac:chgData name="Masoud moradi" userId="f91bf32a8f6ddd3e" providerId="LiveId" clId="{0B409D86-DF32-4729-A546-18B6C750EE50}" dt="2026-10-22T00:42:01.809" v="253" actId="113"/>
          <ac:spMkLst>
            <pc:docMk/>
            <pc:sldMk cId="0" sldId="259"/>
            <ac:spMk id="30" creationId="{00000000-0000-0000-0000-000000000000}"/>
          </ac:spMkLst>
        </pc:spChg>
      </pc:sldChg>
      <pc:sldChg chg="addSp delSp modSp mod">
        <pc:chgData name="Masoud moradi" userId="f91bf32a8f6ddd3e" providerId="LiveId" clId="{0B409D86-DF32-4729-A546-18B6C750EE50}" dt="2026-10-22T00:48:47.289" v="340" actId="207"/>
        <pc:sldMkLst>
          <pc:docMk/>
          <pc:sldMk cId="0" sldId="260"/>
        </pc:sldMkLst>
        <pc:spChg chg="mod">
          <ac:chgData name="Masoud moradi" userId="f91bf32a8f6ddd3e" providerId="LiveId" clId="{0B409D86-DF32-4729-A546-18B6C750EE50}" dt="2026-10-22T00:48:02.887" v="312" actId="1076"/>
          <ac:spMkLst>
            <pc:docMk/>
            <pc:sldMk cId="0" sldId="260"/>
            <ac:spMk id="4" creationId="{00000000-0000-0000-0000-000000000000}"/>
          </ac:spMkLst>
        </pc:spChg>
        <pc:spChg chg="mod">
          <ac:chgData name="Masoud moradi" userId="f91bf32a8f6ddd3e" providerId="LiveId" clId="{0B409D86-DF32-4729-A546-18B6C750EE50}" dt="2026-10-22T00:43:25.258" v="272" actId="20577"/>
          <ac:spMkLst>
            <pc:docMk/>
            <pc:sldMk cId="0" sldId="260"/>
            <ac:spMk id="6" creationId="{00000000-0000-0000-0000-000000000000}"/>
          </ac:spMkLst>
        </pc:spChg>
        <pc:spChg chg="add del">
          <ac:chgData name="Masoud moradi" userId="f91bf32a8f6ddd3e" providerId="LiveId" clId="{0B409D86-DF32-4729-A546-18B6C750EE50}" dt="2026-10-22T00:45:41.406" v="294" actId="11529"/>
          <ac:spMkLst>
            <pc:docMk/>
            <pc:sldMk cId="0" sldId="260"/>
            <ac:spMk id="9" creationId="{83E7F6C8-66BB-BCFA-2F04-F33E672BB06E}"/>
          </ac:spMkLst>
        </pc:spChg>
        <pc:spChg chg="add mod">
          <ac:chgData name="Masoud moradi" userId="f91bf32a8f6ddd3e" providerId="LiveId" clId="{0B409D86-DF32-4729-A546-18B6C750EE50}" dt="2026-10-22T00:48:14.884" v="335" actId="1076"/>
          <ac:spMkLst>
            <pc:docMk/>
            <pc:sldMk cId="0" sldId="260"/>
            <ac:spMk id="11" creationId="{57FC1DC6-7783-3D33-0A42-8385586849FA}"/>
          </ac:spMkLst>
        </pc:spChg>
        <pc:spChg chg="mod">
          <ac:chgData name="Masoud moradi" userId="f91bf32a8f6ddd3e" providerId="LiveId" clId="{0B409D86-DF32-4729-A546-18B6C750EE50}" dt="2026-10-22T00:48:47.289" v="340" actId="207"/>
          <ac:spMkLst>
            <pc:docMk/>
            <pc:sldMk cId="0" sldId="260"/>
            <ac:spMk id="29" creationId="{00000000-0000-0000-0000-000000000000}"/>
          </ac:spMkLst>
        </pc:spChg>
        <pc:picChg chg="mod">
          <ac:chgData name="Masoud moradi" userId="f91bf32a8f6ddd3e" providerId="LiveId" clId="{0B409D86-DF32-4729-A546-18B6C750EE50}" dt="2026-10-22T00:48:32.526" v="339" actId="14100"/>
          <ac:picMkLst>
            <pc:docMk/>
            <pc:sldMk cId="0" sldId="260"/>
            <ac:picMk id="8" creationId="{EBA37345-3140-26FF-92D3-84AE1EA16506}"/>
          </ac:picMkLst>
        </pc:picChg>
      </pc:sldChg>
      <pc:sldChg chg="addSp mod">
        <pc:chgData name="Masoud moradi" userId="f91bf32a8f6ddd3e" providerId="LiveId" clId="{0B409D86-DF32-4729-A546-18B6C750EE50}" dt="2026-10-22T00:21:09.027" v="9" actId="22"/>
        <pc:sldMkLst>
          <pc:docMk/>
          <pc:sldMk cId="0" sldId="265"/>
        </pc:sldMkLst>
        <pc:spChg chg="add">
          <ac:chgData name="Masoud moradi" userId="f91bf32a8f6ddd3e" providerId="LiveId" clId="{0B409D86-DF32-4729-A546-18B6C750EE50}" dt="2026-10-22T00:21:09.027" v="9" actId="22"/>
          <ac:spMkLst>
            <pc:docMk/>
            <pc:sldMk cId="0" sldId="265"/>
            <ac:spMk id="3" creationId="{B2AA3C6A-472B-9BED-6AB0-5148D74D47DB}"/>
          </ac:spMkLst>
        </pc:spChg>
      </pc:sldChg>
      <pc:sldChg chg="addSp delSp modSp mod">
        <pc:chgData name="Masoud moradi" userId="f91bf32a8f6ddd3e" providerId="LiveId" clId="{0B409D86-DF32-4729-A546-18B6C750EE50}" dt="2026-10-22T00:29:47.371" v="138" actId="14100"/>
        <pc:sldMkLst>
          <pc:docMk/>
          <pc:sldMk cId="0" sldId="267"/>
        </pc:sldMkLst>
        <pc:spChg chg="mod">
          <ac:chgData name="Masoud moradi" userId="f91bf32a8f6ddd3e" providerId="LiveId" clId="{0B409D86-DF32-4729-A546-18B6C750EE50}" dt="2026-10-22T00:29:47.371" v="138" actId="14100"/>
          <ac:spMkLst>
            <pc:docMk/>
            <pc:sldMk cId="0" sldId="267"/>
            <ac:spMk id="7" creationId="{00000000-0000-0000-0000-000000000000}"/>
          </ac:spMkLst>
        </pc:spChg>
        <pc:spChg chg="del">
          <ac:chgData name="Masoud moradi" userId="f91bf32a8f6ddd3e" providerId="LiveId" clId="{0B409D86-DF32-4729-A546-18B6C750EE50}" dt="2026-10-22T00:22:34.808" v="14" actId="478"/>
          <ac:spMkLst>
            <pc:docMk/>
            <pc:sldMk cId="0" sldId="267"/>
            <ac:spMk id="13" creationId="{00000000-0000-0000-0000-000000000000}"/>
          </ac:spMkLst>
        </pc:spChg>
        <pc:spChg chg="del">
          <ac:chgData name="Masoud moradi" userId="f91bf32a8f6ddd3e" providerId="LiveId" clId="{0B409D86-DF32-4729-A546-18B6C750EE50}" dt="2026-10-22T00:22:39.157" v="17" actId="478"/>
          <ac:spMkLst>
            <pc:docMk/>
            <pc:sldMk cId="0" sldId="267"/>
            <ac:spMk id="14" creationId="{00000000-0000-0000-0000-000000000000}"/>
          </ac:spMkLst>
        </pc:spChg>
        <pc:spChg chg="del">
          <ac:chgData name="Masoud moradi" userId="f91bf32a8f6ddd3e" providerId="LiveId" clId="{0B409D86-DF32-4729-A546-18B6C750EE50}" dt="2026-10-22T00:22:38.145" v="16" actId="478"/>
          <ac:spMkLst>
            <pc:docMk/>
            <pc:sldMk cId="0" sldId="267"/>
            <ac:spMk id="15" creationId="{00000000-0000-0000-0000-000000000000}"/>
          </ac:spMkLst>
        </pc:spChg>
        <pc:spChg chg="del">
          <ac:chgData name="Masoud moradi" userId="f91bf32a8f6ddd3e" providerId="LiveId" clId="{0B409D86-DF32-4729-A546-18B6C750EE50}" dt="2026-10-22T00:22:36.637" v="15" actId="478"/>
          <ac:spMkLst>
            <pc:docMk/>
            <pc:sldMk cId="0" sldId="267"/>
            <ac:spMk id="16" creationId="{00000000-0000-0000-0000-000000000000}"/>
          </ac:spMkLst>
        </pc:spChg>
        <pc:spChg chg="add del mod">
          <ac:chgData name="Masoud moradi" userId="f91bf32a8f6ddd3e" providerId="LiveId" clId="{0B409D86-DF32-4729-A546-18B6C750EE50}" dt="2026-10-22T00:27:12.172" v="101" actId="1035"/>
          <ac:spMkLst>
            <pc:docMk/>
            <pc:sldMk cId="0" sldId="267"/>
            <ac:spMk id="17" creationId="{00000000-0000-0000-0000-000000000000}"/>
          </ac:spMkLst>
        </pc:spChg>
        <pc:spChg chg="add del mod">
          <ac:chgData name="Masoud moradi" userId="f91bf32a8f6ddd3e" providerId="LiveId" clId="{0B409D86-DF32-4729-A546-18B6C750EE50}" dt="2026-10-22T00:27:12.172" v="101" actId="1035"/>
          <ac:spMkLst>
            <pc:docMk/>
            <pc:sldMk cId="0" sldId="267"/>
            <ac:spMk id="18" creationId="{00000000-0000-0000-0000-000000000000}"/>
          </ac:spMkLst>
        </pc:spChg>
        <pc:spChg chg="add del mod">
          <ac:chgData name="Masoud moradi" userId="f91bf32a8f6ddd3e" providerId="LiveId" clId="{0B409D86-DF32-4729-A546-18B6C750EE50}" dt="2026-10-22T00:23:43.440" v="32" actId="478"/>
          <ac:spMkLst>
            <pc:docMk/>
            <pc:sldMk cId="0" sldId="267"/>
            <ac:spMk id="19" creationId="{00000000-0000-0000-0000-000000000000}"/>
          </ac:spMkLst>
        </pc:spChg>
        <pc:spChg chg="add del mod">
          <ac:chgData name="Masoud moradi" userId="f91bf32a8f6ddd3e" providerId="LiveId" clId="{0B409D86-DF32-4729-A546-18B6C750EE50}" dt="2026-10-22T00:28:09.416" v="115" actId="20577"/>
          <ac:spMkLst>
            <pc:docMk/>
            <pc:sldMk cId="0" sldId="267"/>
            <ac:spMk id="20" creationId="{00000000-0000-0000-0000-000000000000}"/>
          </ac:spMkLst>
        </pc:spChg>
        <pc:spChg chg="del mod">
          <ac:chgData name="Masoud moradi" userId="f91bf32a8f6ddd3e" providerId="LiveId" clId="{0B409D86-DF32-4729-A546-18B6C750EE50}" dt="2026-10-22T00:24:42.090" v="54" actId="478"/>
          <ac:spMkLst>
            <pc:docMk/>
            <pc:sldMk cId="0" sldId="267"/>
            <ac:spMk id="21" creationId="{00000000-0000-0000-0000-000000000000}"/>
          </ac:spMkLst>
        </pc:spChg>
        <pc:spChg chg="del">
          <ac:chgData name="Masoud moradi" userId="f91bf32a8f6ddd3e" providerId="LiveId" clId="{0B409D86-DF32-4729-A546-18B6C750EE50}" dt="2026-10-22T00:21:47.131" v="10" actId="478"/>
          <ac:spMkLst>
            <pc:docMk/>
            <pc:sldMk cId="0" sldId="267"/>
            <ac:spMk id="27" creationId="{1411253F-F201-7D68-A400-34C47F1007C0}"/>
          </ac:spMkLst>
        </pc:spChg>
        <pc:spChg chg="add">
          <ac:chgData name="Masoud moradi" userId="f91bf32a8f6ddd3e" providerId="LiveId" clId="{0B409D86-DF32-4729-A546-18B6C750EE50}" dt="2026-10-22T00:20:30.996" v="0" actId="22"/>
          <ac:spMkLst>
            <pc:docMk/>
            <pc:sldMk cId="0" sldId="267"/>
            <ac:spMk id="29" creationId="{737471E2-E6B8-D133-3D57-D6C8297A8EBB}"/>
          </ac:spMkLst>
        </pc:spChg>
        <pc:graphicFrameChg chg="mod">
          <ac:chgData name="Masoud moradi" userId="f91bf32a8f6ddd3e" providerId="LiveId" clId="{0B409D86-DF32-4729-A546-18B6C750EE50}" dt="2026-10-22T00:28:28.597" v="118" actId="1076"/>
          <ac:graphicFrameMkLst>
            <pc:docMk/>
            <pc:sldMk cId="0" sldId="267"/>
            <ac:graphicFrameMk id="8" creationId="{00000000-0000-0000-0000-000000000000}"/>
          </ac:graphicFrameMkLst>
        </pc:graphicFrameChg>
        <pc:picChg chg="add mod">
          <ac:chgData name="Masoud moradi" userId="f91bf32a8f6ddd3e" providerId="LiveId" clId="{0B409D86-DF32-4729-A546-18B6C750EE50}" dt="2026-10-22T00:27:21.835" v="105" actId="1076"/>
          <ac:picMkLst>
            <pc:docMk/>
            <pc:sldMk cId="0" sldId="267"/>
            <ac:picMk id="31" creationId="{685F0235-E262-B285-7FF9-1EFAA3F18235}"/>
          </ac:picMkLst>
        </pc:picChg>
      </pc:sldChg>
      <pc:sldChg chg="addSp delSp modSp mod">
        <pc:chgData name="Masoud moradi" userId="f91bf32a8f6ddd3e" providerId="LiveId" clId="{0B409D86-DF32-4729-A546-18B6C750EE50}" dt="2026-10-22T00:38:49.619" v="193" actId="1076"/>
        <pc:sldMkLst>
          <pc:docMk/>
          <pc:sldMk cId="1654378977" sldId="268"/>
        </pc:sldMkLst>
        <pc:spChg chg="mod">
          <ac:chgData name="Masoud moradi" userId="f91bf32a8f6ddd3e" providerId="LiveId" clId="{0B409D86-DF32-4729-A546-18B6C750EE50}" dt="2026-10-22T00:38:44.455" v="192" actId="1076"/>
          <ac:spMkLst>
            <pc:docMk/>
            <pc:sldMk cId="1654378977" sldId="268"/>
            <ac:spMk id="12" creationId="{429F9F84-5827-28EC-B753-22EC893D7F00}"/>
          </ac:spMkLst>
        </pc:spChg>
        <pc:spChg chg="add del">
          <ac:chgData name="Masoud moradi" userId="f91bf32a8f6ddd3e" providerId="LiveId" clId="{0B409D86-DF32-4729-A546-18B6C750EE50}" dt="2026-10-22T00:35:57.347" v="145" actId="22"/>
          <ac:spMkLst>
            <pc:docMk/>
            <pc:sldMk cId="1654378977" sldId="268"/>
            <ac:spMk id="16" creationId="{A7D2C711-3C53-3ADA-87E2-CD7B44887452}"/>
          </ac:spMkLst>
        </pc:spChg>
        <pc:picChg chg="del">
          <ac:chgData name="Masoud moradi" userId="f91bf32a8f6ddd3e" providerId="LiveId" clId="{0B409D86-DF32-4729-A546-18B6C750EE50}" dt="2026-10-22T00:35:54.846" v="143" actId="478"/>
          <ac:picMkLst>
            <pc:docMk/>
            <pc:sldMk cId="1654378977" sldId="268"/>
            <ac:picMk id="9" creationId="{A043FBA6-411C-F61A-F17C-6E1ED5769AF1}"/>
          </ac:picMkLst>
        </pc:picChg>
        <pc:picChg chg="del">
          <ac:chgData name="Masoud moradi" userId="f91bf32a8f6ddd3e" providerId="LiveId" clId="{0B409D86-DF32-4729-A546-18B6C750EE50}" dt="2026-10-22T00:35:52.793" v="142" actId="478"/>
          <ac:picMkLst>
            <pc:docMk/>
            <pc:sldMk cId="1654378977" sldId="268"/>
            <ac:picMk id="14" creationId="{E185A51E-60A9-2644-5749-032A45DAE12E}"/>
          </ac:picMkLst>
        </pc:picChg>
        <pc:picChg chg="add mod">
          <ac:chgData name="Masoud moradi" userId="f91bf32a8f6ddd3e" providerId="LiveId" clId="{0B409D86-DF32-4729-A546-18B6C750EE50}" dt="2026-10-22T00:38:49.619" v="193" actId="1076"/>
          <ac:picMkLst>
            <pc:docMk/>
            <pc:sldMk cId="1654378977" sldId="268"/>
            <ac:picMk id="18" creationId="{B21CBFB5-53C8-10A3-A197-D4DE87C7A4E8}"/>
          </ac:picMkLst>
        </pc:picChg>
      </pc:sldChg>
      <pc:sldChg chg="addSp delSp modSp mod">
        <pc:chgData name="Masoud moradi" userId="f91bf32a8f6ddd3e" providerId="LiveId" clId="{0B409D86-DF32-4729-A546-18B6C750EE50}" dt="2026-10-22T00:43:11.894" v="271" actId="20577"/>
        <pc:sldMkLst>
          <pc:docMk/>
          <pc:sldMk cId="110699546" sldId="269"/>
        </pc:sldMkLst>
        <pc:spChg chg="del">
          <ac:chgData name="Masoud moradi" userId="f91bf32a8f6ddd3e" providerId="LiveId" clId="{0B409D86-DF32-4729-A546-18B6C750EE50}" dt="2026-10-22T00:42:10.258" v="254" actId="478"/>
          <ac:spMkLst>
            <pc:docMk/>
            <pc:sldMk cId="110699546" sldId="269"/>
            <ac:spMk id="7" creationId="{3255E6EC-3C4C-16E8-3F12-FD31DBD4597A}"/>
          </ac:spMkLst>
        </pc:spChg>
        <pc:spChg chg="mod">
          <ac:chgData name="Masoud moradi" userId="f91bf32a8f6ddd3e" providerId="LiveId" clId="{0B409D86-DF32-4729-A546-18B6C750EE50}" dt="2026-10-22T00:43:11.894" v="271" actId="20577"/>
          <ac:spMkLst>
            <pc:docMk/>
            <pc:sldMk cId="110699546" sldId="269"/>
            <ac:spMk id="9" creationId="{C328CD70-7ACC-148F-0CFB-EB1AFEAA1333}"/>
          </ac:spMkLst>
        </pc:spChg>
        <pc:spChg chg="add">
          <ac:chgData name="Masoud moradi" userId="f91bf32a8f6ddd3e" providerId="LiveId" clId="{0B409D86-DF32-4729-A546-18B6C750EE50}" dt="2026-10-22T00:20:35.692" v="1" actId="22"/>
          <ac:spMkLst>
            <pc:docMk/>
            <pc:sldMk cId="110699546" sldId="269"/>
            <ac:spMk id="17" creationId="{64F11952-C032-ED42-4433-523B6C57E5F6}"/>
          </ac:spMkLst>
        </pc:spChg>
      </pc:sldChg>
      <pc:sldChg chg="addSp delSp modSp mod modAnim">
        <pc:chgData name="Masoud moradi" userId="f91bf32a8f6ddd3e" providerId="LiveId" clId="{0B409D86-DF32-4729-A546-18B6C750EE50}" dt="2026-10-22T00:56:29.598" v="440" actId="1076"/>
        <pc:sldMkLst>
          <pc:docMk/>
          <pc:sldMk cId="2414104909" sldId="270"/>
        </pc:sldMkLst>
        <pc:spChg chg="mod">
          <ac:chgData name="Masoud moradi" userId="f91bf32a8f6ddd3e" providerId="LiveId" clId="{0B409D86-DF32-4729-A546-18B6C750EE50}" dt="2026-10-22T00:52:22.083" v="413" actId="20577"/>
          <ac:spMkLst>
            <pc:docMk/>
            <pc:sldMk cId="2414104909" sldId="270"/>
            <ac:spMk id="5" creationId="{35F6EC1A-4A82-FEC5-9B51-7D186DEE29B6}"/>
          </ac:spMkLst>
        </pc:spChg>
        <pc:spChg chg="add del mod">
          <ac:chgData name="Masoud moradi" userId="f91bf32a8f6ddd3e" providerId="LiveId" clId="{0B409D86-DF32-4729-A546-18B6C750EE50}" dt="2026-10-22T00:50:09.270" v="362" actId="478"/>
          <ac:spMkLst>
            <pc:docMk/>
            <pc:sldMk cId="2414104909" sldId="270"/>
            <ac:spMk id="13" creationId="{2A099FE9-E142-7B4B-7507-C0C440200586}"/>
          </ac:spMkLst>
        </pc:spChg>
        <pc:spChg chg="add del mod">
          <ac:chgData name="Masoud moradi" userId="f91bf32a8f6ddd3e" providerId="LiveId" clId="{0B409D86-DF32-4729-A546-18B6C750EE50}" dt="2026-10-22T00:54:37.582" v="430" actId="478"/>
          <ac:spMkLst>
            <pc:docMk/>
            <pc:sldMk cId="2414104909" sldId="270"/>
            <ac:spMk id="16" creationId="{01AF1063-FF69-3AE3-891E-CF261BBAF290}"/>
          </ac:spMkLst>
        </pc:spChg>
        <pc:spChg chg="add del mod">
          <ac:chgData name="Masoud moradi" userId="f91bf32a8f6ddd3e" providerId="LiveId" clId="{0B409D86-DF32-4729-A546-18B6C750EE50}" dt="2026-10-22T00:54:36.608" v="429" actId="478"/>
          <ac:spMkLst>
            <pc:docMk/>
            <pc:sldMk cId="2414104909" sldId="270"/>
            <ac:spMk id="18" creationId="{6093DEF7-F715-E3FF-D091-17E17DBE8DA0}"/>
          </ac:spMkLst>
        </pc:spChg>
        <pc:spChg chg="add del mod">
          <ac:chgData name="Masoud moradi" userId="f91bf32a8f6ddd3e" providerId="LiveId" clId="{0B409D86-DF32-4729-A546-18B6C750EE50}" dt="2026-10-22T00:54:38.188" v="431" actId="478"/>
          <ac:spMkLst>
            <pc:docMk/>
            <pc:sldMk cId="2414104909" sldId="270"/>
            <ac:spMk id="20" creationId="{30317C1B-C027-EE32-20D8-796C56B47B1E}"/>
          </ac:spMkLst>
        </pc:spChg>
        <pc:spChg chg="add del mod">
          <ac:chgData name="Masoud moradi" userId="f91bf32a8f6ddd3e" providerId="LiveId" clId="{0B409D86-DF32-4729-A546-18B6C750EE50}" dt="2026-10-22T00:54:39.741" v="434"/>
          <ac:spMkLst>
            <pc:docMk/>
            <pc:sldMk cId="2414104909" sldId="270"/>
            <ac:spMk id="21" creationId="{F2FAEC8C-6515-1E14-7388-7F339AA83C5A}"/>
          </ac:spMkLst>
        </pc:spChg>
        <pc:spChg chg="add mod">
          <ac:chgData name="Masoud moradi" userId="f91bf32a8f6ddd3e" providerId="LiveId" clId="{0B409D86-DF32-4729-A546-18B6C750EE50}" dt="2026-10-22T00:56:29.598" v="440" actId="1076"/>
          <ac:spMkLst>
            <pc:docMk/>
            <pc:sldMk cId="2414104909" sldId="270"/>
            <ac:spMk id="23" creationId="{0A677B2A-295A-98A6-6DC9-B86B037C3766}"/>
          </ac:spMkLst>
        </pc:spChg>
        <pc:picChg chg="mod">
          <ac:chgData name="Masoud moradi" userId="f91bf32a8f6ddd3e" providerId="LiveId" clId="{0B409D86-DF32-4729-A546-18B6C750EE50}" dt="2026-10-22T00:49:51.955" v="358" actId="1076"/>
          <ac:picMkLst>
            <pc:docMk/>
            <pc:sldMk cId="2414104909" sldId="270"/>
            <ac:picMk id="3" creationId="{4576D41E-7CF8-EA7B-5035-91A3D2E398AD}"/>
          </ac:picMkLst>
        </pc:picChg>
        <pc:picChg chg="del mod">
          <ac:chgData name="Masoud moradi" userId="f91bf32a8f6ddd3e" providerId="LiveId" clId="{0B409D86-DF32-4729-A546-18B6C750EE50}" dt="2026-10-22T00:50:12.751" v="363" actId="478"/>
          <ac:picMkLst>
            <pc:docMk/>
            <pc:sldMk cId="2414104909" sldId="270"/>
            <ac:picMk id="7" creationId="{F050200E-EF7B-CF7C-79F5-7261A2603EC6}"/>
          </ac:picMkLst>
        </pc:picChg>
        <pc:picChg chg="mod">
          <ac:chgData name="Masoud moradi" userId="f91bf32a8f6ddd3e" providerId="LiveId" clId="{0B409D86-DF32-4729-A546-18B6C750EE50}" dt="2026-10-22T00:49:46.964" v="357" actId="1076"/>
          <ac:picMkLst>
            <pc:docMk/>
            <pc:sldMk cId="2414104909" sldId="270"/>
            <ac:picMk id="9" creationId="{E1D96C28-59B2-A6ED-6FD1-8F64A7E50FF8}"/>
          </ac:picMkLst>
        </pc:picChg>
        <pc:picChg chg="mod">
          <ac:chgData name="Masoud moradi" userId="f91bf32a8f6ddd3e" providerId="LiveId" clId="{0B409D86-DF32-4729-A546-18B6C750EE50}" dt="2026-10-22T00:49:56.201" v="359" actId="1076"/>
          <ac:picMkLst>
            <pc:docMk/>
            <pc:sldMk cId="2414104909" sldId="270"/>
            <ac:picMk id="11" creationId="{F8719EF5-F72A-6EA2-1EC7-29ABAD27DFAF}"/>
          </ac:picMkLst>
        </pc:picChg>
        <pc:picChg chg="add mod">
          <ac:chgData name="Masoud moradi" userId="f91bf32a8f6ddd3e" providerId="LiveId" clId="{0B409D86-DF32-4729-A546-18B6C750EE50}" dt="2026-10-22T00:50:14.824" v="364" actId="1076"/>
          <ac:picMkLst>
            <pc:docMk/>
            <pc:sldMk cId="2414104909" sldId="270"/>
            <ac:picMk id="15" creationId="{1E2BB981-8197-5B81-B5EC-6B34ACC3443A}"/>
          </ac:picMkLst>
        </pc:picChg>
      </pc:sldChg>
      <pc:sldChg chg="addSp delSp modSp mod">
        <pc:chgData name="Masoud moradi" userId="f91bf32a8f6ddd3e" providerId="LiveId" clId="{0B409D86-DF32-4729-A546-18B6C750EE50}" dt="2026-10-22T01:09:43.758" v="497" actId="404"/>
        <pc:sldMkLst>
          <pc:docMk/>
          <pc:sldMk cId="1226280272" sldId="271"/>
        </pc:sldMkLst>
        <pc:spChg chg="mod">
          <ac:chgData name="Masoud moradi" userId="f91bf32a8f6ddd3e" providerId="LiveId" clId="{0B409D86-DF32-4729-A546-18B6C750EE50}" dt="2026-10-22T01:09:43.758" v="497" actId="404"/>
          <ac:spMkLst>
            <pc:docMk/>
            <pc:sldMk cId="1226280272" sldId="271"/>
            <ac:spMk id="5" creationId="{EC2F38DF-E813-3C1A-A77E-8BF2DBBC4B38}"/>
          </ac:spMkLst>
        </pc:spChg>
        <pc:spChg chg="mod">
          <ac:chgData name="Masoud moradi" userId="f91bf32a8f6ddd3e" providerId="LiveId" clId="{0B409D86-DF32-4729-A546-18B6C750EE50}" dt="2026-10-22T00:57:37.695" v="445" actId="404"/>
          <ac:spMkLst>
            <pc:docMk/>
            <pc:sldMk cId="1226280272" sldId="271"/>
            <ac:spMk id="7" creationId="{D0A224AF-CC06-ECB7-654E-FFAB1C60BAD8}"/>
          </ac:spMkLst>
        </pc:spChg>
        <pc:spChg chg="mod">
          <ac:chgData name="Masoud moradi" userId="f91bf32a8f6ddd3e" providerId="LiveId" clId="{0B409D86-DF32-4729-A546-18B6C750EE50}" dt="2026-10-22T01:03:05.433" v="473" actId="1076"/>
          <ac:spMkLst>
            <pc:docMk/>
            <pc:sldMk cId="1226280272" sldId="271"/>
            <ac:spMk id="13" creationId="{EAF0EEFB-EDC2-BEBC-18B4-446CE4BBE92F}"/>
          </ac:spMkLst>
        </pc:spChg>
        <pc:spChg chg="add">
          <ac:chgData name="Masoud moradi" userId="f91bf32a8f6ddd3e" providerId="LiveId" clId="{0B409D86-DF32-4729-A546-18B6C750EE50}" dt="2026-10-22T00:20:49.821" v="4" actId="22"/>
          <ac:spMkLst>
            <pc:docMk/>
            <pc:sldMk cId="1226280272" sldId="271"/>
            <ac:spMk id="15" creationId="{60A8E247-FE8F-7934-571A-38A319F59E9E}"/>
          </ac:spMkLst>
        </pc:spChg>
        <pc:spChg chg="add del mod">
          <ac:chgData name="Masoud moradi" userId="f91bf32a8f6ddd3e" providerId="LiveId" clId="{0B409D86-DF32-4729-A546-18B6C750EE50}" dt="2026-10-22T01:01:48.138" v="455" actId="478"/>
          <ac:spMkLst>
            <pc:docMk/>
            <pc:sldMk cId="1226280272" sldId="271"/>
            <ac:spMk id="17" creationId="{A2C595A1-5428-9E92-C64A-9BBB911E7372}"/>
          </ac:spMkLst>
        </pc:spChg>
        <pc:spChg chg="add mod">
          <ac:chgData name="Masoud moradi" userId="f91bf32a8f6ddd3e" providerId="LiveId" clId="{0B409D86-DF32-4729-A546-18B6C750EE50}" dt="2026-10-22T01:05:02.168" v="480" actId="208"/>
          <ac:spMkLst>
            <pc:docMk/>
            <pc:sldMk cId="1226280272" sldId="271"/>
            <ac:spMk id="19" creationId="{81DA4E8B-EBA3-D650-1854-0B6709F17FDB}"/>
          </ac:spMkLst>
        </pc:spChg>
        <pc:picChg chg="mod">
          <ac:chgData name="Masoud moradi" userId="f91bf32a8f6ddd3e" providerId="LiveId" clId="{0B409D86-DF32-4729-A546-18B6C750EE50}" dt="2026-10-22T00:57:48" v="447" actId="14100"/>
          <ac:picMkLst>
            <pc:docMk/>
            <pc:sldMk cId="1226280272" sldId="271"/>
            <ac:picMk id="11" creationId="{C16910C3-6100-4EBE-A79F-BE3373C773E7}"/>
          </ac:picMkLst>
        </pc:picChg>
      </pc:sldChg>
      <pc:sldChg chg="addSp modSp mod modShow">
        <pc:chgData name="Masoud moradi" userId="f91bf32a8f6ddd3e" providerId="LiveId" clId="{0B409D86-DF32-4729-A546-18B6C750EE50}" dt="2026-10-22T01:07:56.407" v="492" actId="729"/>
        <pc:sldMkLst>
          <pc:docMk/>
          <pc:sldMk cId="849186742" sldId="273"/>
        </pc:sldMkLst>
        <pc:spChg chg="mod">
          <ac:chgData name="Masoud moradi" userId="f91bf32a8f6ddd3e" providerId="LiveId" clId="{0B409D86-DF32-4729-A546-18B6C750EE50}" dt="2026-10-22T01:05:57.108" v="491" actId="115"/>
          <ac:spMkLst>
            <pc:docMk/>
            <pc:sldMk cId="849186742" sldId="273"/>
            <ac:spMk id="5" creationId="{AC8E8A97-6CF5-0EE4-38E3-F6C3B2F3D53B}"/>
          </ac:spMkLst>
        </pc:spChg>
        <pc:spChg chg="mod">
          <ac:chgData name="Masoud moradi" userId="f91bf32a8f6ddd3e" providerId="LiveId" clId="{0B409D86-DF32-4729-A546-18B6C750EE50}" dt="2026-10-22T01:05:38.211" v="487" actId="404"/>
          <ac:spMkLst>
            <pc:docMk/>
            <pc:sldMk cId="849186742" sldId="273"/>
            <ac:spMk id="7" creationId="{64B490BC-578C-0091-1AC2-6DC8CEC100E9}"/>
          </ac:spMkLst>
        </pc:spChg>
        <pc:spChg chg="add mod">
          <ac:chgData name="Masoud moradi" userId="f91bf32a8f6ddd3e" providerId="LiveId" clId="{0B409D86-DF32-4729-A546-18B6C750EE50}" dt="2026-10-22T01:05:28.803" v="483" actId="14100"/>
          <ac:spMkLst>
            <pc:docMk/>
            <pc:sldMk cId="849186742" sldId="273"/>
            <ac:spMk id="9" creationId="{68A02549-4A29-BF81-3FFE-9C2B25F45F81}"/>
          </ac:spMkLst>
        </pc:spChg>
        <pc:picChg chg="mod">
          <ac:chgData name="Masoud moradi" userId="f91bf32a8f6ddd3e" providerId="LiveId" clId="{0B409D86-DF32-4729-A546-18B6C750EE50}" dt="2026-10-22T01:05:16.117" v="481" actId="1076"/>
          <ac:picMkLst>
            <pc:docMk/>
            <pc:sldMk cId="849186742" sldId="273"/>
            <ac:picMk id="3" creationId="{C5B810E7-2192-3E52-78D4-B134B8D20831}"/>
          </ac:picMkLst>
        </pc:picChg>
      </pc:sldChg>
      <pc:sldChg chg="addSp modSp mod">
        <pc:chgData name="Masoud moradi" userId="f91bf32a8f6ddd3e" providerId="LiveId" clId="{0B409D86-DF32-4729-A546-18B6C750EE50}" dt="2026-10-22T01:09:00.975" v="496" actId="207"/>
        <pc:sldMkLst>
          <pc:docMk/>
          <pc:sldMk cId="3497745025" sldId="275"/>
        </pc:sldMkLst>
        <pc:spChg chg="mod">
          <ac:chgData name="Masoud moradi" userId="f91bf32a8f6ddd3e" providerId="LiveId" clId="{0B409D86-DF32-4729-A546-18B6C750EE50}" dt="2026-10-22T01:09:00.975" v="496" actId="207"/>
          <ac:spMkLst>
            <pc:docMk/>
            <pc:sldMk cId="3497745025" sldId="275"/>
            <ac:spMk id="9" creationId="{476A5608-B8DE-58CF-3768-55118617A78A}"/>
          </ac:spMkLst>
        </pc:spChg>
        <pc:spChg chg="add">
          <ac:chgData name="Masoud moradi" userId="f91bf32a8f6ddd3e" providerId="LiveId" clId="{0B409D86-DF32-4729-A546-18B6C750EE50}" dt="2026-10-22T00:20:55.151" v="6" actId="22"/>
          <ac:spMkLst>
            <pc:docMk/>
            <pc:sldMk cId="3497745025" sldId="275"/>
            <ac:spMk id="11" creationId="{F6CE9F6D-502A-5C27-162F-56E56D3BD7E9}"/>
          </ac:spMkLst>
        </pc:spChg>
      </pc:sldChg>
      <pc:sldChg chg="addSp modSp mod modNotesTx">
        <pc:chgData name="Masoud moradi" userId="f91bf32a8f6ddd3e" providerId="LiveId" clId="{0B409D86-DF32-4729-A546-18B6C750EE50}" dt="2026-10-22T02:37:11.103" v="532" actId="20577"/>
        <pc:sldMkLst>
          <pc:docMk/>
          <pc:sldMk cId="4214468046" sldId="276"/>
        </pc:sldMkLst>
        <pc:spChg chg="mod">
          <ac:chgData name="Masoud moradi" userId="f91bf32a8f6ddd3e" providerId="LiveId" clId="{0B409D86-DF32-4729-A546-18B6C750EE50}" dt="2026-10-22T01:09:53.686" v="499" actId="1076"/>
          <ac:spMkLst>
            <pc:docMk/>
            <pc:sldMk cId="4214468046" sldId="276"/>
            <ac:spMk id="13" creationId="{E5A65536-A702-673F-AF68-EB9B6476770A}"/>
          </ac:spMkLst>
        </pc:spChg>
        <pc:spChg chg="mod">
          <ac:chgData name="Masoud moradi" userId="f91bf32a8f6ddd3e" providerId="LiveId" clId="{0B409D86-DF32-4729-A546-18B6C750EE50}" dt="2026-10-22T02:35:46.480" v="525" actId="20577"/>
          <ac:spMkLst>
            <pc:docMk/>
            <pc:sldMk cId="4214468046" sldId="276"/>
            <ac:spMk id="15" creationId="{6BEBA8EE-CF9A-1471-1EE6-D284BDAE2EDC}"/>
          </ac:spMkLst>
        </pc:spChg>
        <pc:spChg chg="add">
          <ac:chgData name="Masoud moradi" userId="f91bf32a8f6ddd3e" providerId="LiveId" clId="{0B409D86-DF32-4729-A546-18B6C750EE50}" dt="2026-10-22T00:20:57.599" v="7" actId="22"/>
          <ac:spMkLst>
            <pc:docMk/>
            <pc:sldMk cId="4214468046" sldId="276"/>
            <ac:spMk id="17" creationId="{A19A9801-FD1D-BC3F-DAEA-46402A1B0606}"/>
          </ac:spMkLst>
        </pc:spChg>
        <pc:spChg chg="add mod">
          <ac:chgData name="Masoud moradi" userId="f91bf32a8f6ddd3e" providerId="LiveId" clId="{0B409D86-DF32-4729-A546-18B6C750EE50}" dt="2026-10-22T01:12:29.927" v="523" actId="20577"/>
          <ac:spMkLst>
            <pc:docMk/>
            <pc:sldMk cId="4214468046" sldId="276"/>
            <ac:spMk id="19" creationId="{67B1068A-9CB0-CEB2-B6D1-2D013F2C1F64}"/>
          </ac:spMkLst>
        </pc:spChg>
        <pc:picChg chg="mod">
          <ac:chgData name="Masoud moradi" userId="f91bf32a8f6ddd3e" providerId="LiveId" clId="{0B409D86-DF32-4729-A546-18B6C750EE50}" dt="2026-10-22T01:10:17.244" v="505" actId="14100"/>
          <ac:picMkLst>
            <pc:docMk/>
            <pc:sldMk cId="4214468046" sldId="276"/>
            <ac:picMk id="11" creationId="{0C52ADEA-A3D7-2068-AD21-F1712146BAC0}"/>
          </ac:picMkLst>
        </pc:picChg>
      </pc:sldChg>
      <pc:sldChg chg="addSp modSp mod">
        <pc:chgData name="Masoud moradi" userId="f91bf32a8f6ddd3e" providerId="LiveId" clId="{0B409D86-DF32-4729-A546-18B6C750EE50}" dt="2026-10-22T01:11:48.293" v="508" actId="20577"/>
        <pc:sldMkLst>
          <pc:docMk/>
          <pc:sldMk cId="925849187" sldId="277"/>
        </pc:sldMkLst>
        <pc:spChg chg="add">
          <ac:chgData name="Masoud moradi" userId="f91bf32a8f6ddd3e" providerId="LiveId" clId="{0B409D86-DF32-4729-A546-18B6C750EE50}" dt="2026-10-22T00:21:02.581" v="8" actId="22"/>
          <ac:spMkLst>
            <pc:docMk/>
            <pc:sldMk cId="925849187" sldId="277"/>
            <ac:spMk id="9" creationId="{04336954-9EDE-399C-CE15-27BD2DB29C55}"/>
          </ac:spMkLst>
        </pc:spChg>
        <pc:spChg chg="add mod">
          <ac:chgData name="Masoud moradi" userId="f91bf32a8f6ddd3e" providerId="LiveId" clId="{0B409D86-DF32-4729-A546-18B6C750EE50}" dt="2026-10-22T01:11:48.293" v="508" actId="20577"/>
          <ac:spMkLst>
            <pc:docMk/>
            <pc:sldMk cId="925849187" sldId="277"/>
            <ac:spMk id="11" creationId="{30C34153-C094-3B69-1D5C-3949B9E09889}"/>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barChart>
        <c:barDir val="bar"/>
        <c:grouping val="clustered"/>
        <c:varyColors val="1"/>
        <c:ser>
          <c:idx val="0"/>
          <c:order val="0"/>
          <c:tx>
            <c:strRef>
              <c:f>Sheet1!$B$1</c:f>
              <c:strCache>
                <c:ptCount val="1"/>
                <c:pt idx="0">
                  <c:v>Missing values</c:v>
                </c:pt>
              </c:strCache>
            </c:strRef>
          </c:tx>
          <c:spPr>
            <a:solidFill>
              <a:srgbClr val="239191"/>
            </a:solidFill>
            <a:ln>
              <a:solidFill>
                <a:srgbClr val="239191"/>
              </a:solidFill>
            </a:ln>
          </c:spPr>
          <c:invertIfNegative val="1"/>
          <c:cat>
            <c:strRef>
              <c:f>Sheet1!$A$2:$A$8</c:f>
              <c:strCache>
                <c:ptCount val="7"/>
                <c:pt idx="0">
                  <c:v>normalized
losses</c:v>
                </c:pt>
                <c:pt idx="1">
                  <c:v>bore</c:v>
                </c:pt>
                <c:pt idx="2">
                  <c:v>stroke</c:v>
                </c:pt>
                <c:pt idx="3">
                  <c:v>price</c:v>
                </c:pt>
                <c:pt idx="4">
                  <c:v>doors</c:v>
                </c:pt>
                <c:pt idx="5">
                  <c:v>horsepower</c:v>
                </c:pt>
                <c:pt idx="6">
                  <c:v>peak RPM</c:v>
                </c:pt>
              </c:strCache>
            </c:strRef>
          </c:cat>
          <c:val>
            <c:numRef>
              <c:f>Sheet1!$B$2:$B$8</c:f>
              <c:numCache>
                <c:formatCode>General</c:formatCode>
                <c:ptCount val="7"/>
                <c:pt idx="0">
                  <c:v>41</c:v>
                </c:pt>
                <c:pt idx="1">
                  <c:v>4</c:v>
                </c:pt>
                <c:pt idx="2">
                  <c:v>4</c:v>
                </c:pt>
                <c:pt idx="3">
                  <c:v>4</c:v>
                </c:pt>
                <c:pt idx="4">
                  <c:v>2</c:v>
                </c:pt>
                <c:pt idx="5">
                  <c:v>2</c:v>
                </c:pt>
                <c:pt idx="6">
                  <c:v>2</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239191"/>
                    </a:solidFill>
                  </a:ln>
                </c14:spPr>
              </c14:invertSolidFillFmt>
            </c:ext>
            <c:ext xmlns:c16="http://schemas.microsoft.com/office/drawing/2014/chart" uri="{C3380CC4-5D6E-409C-BE32-E72D297353CC}">
              <c16:uniqueId val="{00000000-870B-4954-8A0B-4E319E0C6472}"/>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spPr>
            <a:ln>
              <a:solidFill>
                <a:srgbClr val="DCE3EB"/>
              </a:solidFill>
            </a:ln>
          </c:spPr>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000">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5EE79B-5F17-4710-9FBC-D9E8F1AC3BAD}"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0C4A4-ACF5-4750-8011-C15550F7B273}" type="slidenum">
              <a:rPr lang="en-US" smtClean="0"/>
              <a:t>‹#›</a:t>
            </a:fld>
            <a:endParaRPr lang="en-US"/>
          </a:p>
        </p:txBody>
      </p:sp>
    </p:spTree>
    <p:extLst>
      <p:ext uri="{BB962C8B-B14F-4D97-AF65-F5344CB8AC3E}">
        <p14:creationId xmlns:p14="http://schemas.microsoft.com/office/powerpoint/2010/main" val="27729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Convertibles have the highest median price, while hatchbacks have the lowest.</a:t>
            </a:r>
          </a:p>
          <a:p>
            <a:r>
              <a:rPr lang="en-US" dirty="0"/>
              <a:t>2. Car prices vary by fuel type and other vehicle characteristics.</a:t>
            </a:r>
          </a:p>
          <a:p>
            <a:r>
              <a:rPr lang="en-US" dirty="0"/>
              <a:t>3. Turbocharged cars have higher median prices than standard cars.</a:t>
            </a:r>
          </a:p>
          <a:p>
            <a:r>
              <a:rPr lang="en-US" dirty="0"/>
              <a:t>4. RWD cars have the highest median price, but the 4WD sample is small.</a:t>
            </a:r>
          </a:p>
          <a:p>
            <a:endParaRPr lang="en-US" dirty="0"/>
          </a:p>
        </p:txBody>
      </p:sp>
      <p:sp>
        <p:nvSpPr>
          <p:cNvPr id="4" name="Slide Number Placeholder 3"/>
          <p:cNvSpPr>
            <a:spLocks noGrp="1"/>
          </p:cNvSpPr>
          <p:nvPr>
            <p:ph type="sldNum" sz="quarter" idx="5"/>
          </p:nvPr>
        </p:nvSpPr>
        <p:spPr/>
        <p:txBody>
          <a:bodyPr/>
          <a:lstStyle/>
          <a:p>
            <a:fld id="{BD30C4A4-ACF5-4750-8011-C15550F7B273}" type="slidenum">
              <a:rPr lang="en-US" smtClean="0"/>
              <a:t>9</a:t>
            </a:fld>
            <a:endParaRPr lang="en-US"/>
          </a:p>
        </p:txBody>
      </p:sp>
    </p:spTree>
    <p:extLst>
      <p:ext uri="{BB962C8B-B14F-4D97-AF65-F5344CB8AC3E}">
        <p14:creationId xmlns:p14="http://schemas.microsoft.com/office/powerpoint/2010/main" val="547322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Vehicle weight and dimensions have strong positive correlations with price, especially curb weight (r = 0.834).</a:t>
            </a:r>
          </a:p>
          <a:p>
            <a:pPr lvl="0"/>
            <a:r>
              <a:rPr lang="en-US" dirty="0"/>
              <a:t>Fuel economy has a negative relationship with price, meaning higher-MPG cars tend to cost less.</a:t>
            </a:r>
          </a:p>
          <a:p>
            <a:pPr lvl="0"/>
            <a:r>
              <a:rPr lang="en-US" dirty="0"/>
              <a:t>These relationships show association, not causation, and may overlap with other vehicle characteristics.</a:t>
            </a:r>
          </a:p>
          <a:p>
            <a:endParaRPr lang="en-US" dirty="0"/>
          </a:p>
        </p:txBody>
      </p:sp>
      <p:sp>
        <p:nvSpPr>
          <p:cNvPr id="4" name="Slide Number Placeholder 3"/>
          <p:cNvSpPr>
            <a:spLocks noGrp="1"/>
          </p:cNvSpPr>
          <p:nvPr>
            <p:ph type="sldNum" sz="quarter" idx="5"/>
          </p:nvPr>
        </p:nvSpPr>
        <p:spPr/>
        <p:txBody>
          <a:bodyPr/>
          <a:lstStyle/>
          <a:p>
            <a:fld id="{BD30C4A4-ACF5-4750-8011-C15550F7B273}" type="slidenum">
              <a:rPr lang="en-US" smtClean="0"/>
              <a:t>11</a:t>
            </a:fld>
            <a:endParaRPr lang="en-US"/>
          </a:p>
        </p:txBody>
      </p:sp>
    </p:spTree>
    <p:extLst>
      <p:ext uri="{BB962C8B-B14F-4D97-AF65-F5344CB8AC3E}">
        <p14:creationId xmlns:p14="http://schemas.microsoft.com/office/powerpoint/2010/main" val="1490294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a:t>
            </a:r>
            <a:r>
              <a:rPr lang="en-US"/>
              <a:t>: I </a:t>
            </a:r>
            <a:r>
              <a:rPr lang="en-US" dirty="0"/>
              <a:t>artificially masked known values, used KNN and </a:t>
            </a:r>
            <a:r>
              <a:rPr lang="en-US" dirty="0" err="1"/>
              <a:t>BayesianRidge</a:t>
            </a:r>
            <a:r>
              <a:rPr lang="en-US" dirty="0"/>
              <a:t> to estimate them, and calculated RMSE by comparing the estimates with the original values. The method with the lower RMSE performed better for that variable. These results are preliminary because we used a single train-test split.”</a:t>
            </a:r>
          </a:p>
        </p:txBody>
      </p:sp>
      <p:sp>
        <p:nvSpPr>
          <p:cNvPr id="4" name="Slide Number Placeholder 3"/>
          <p:cNvSpPr>
            <a:spLocks noGrp="1"/>
          </p:cNvSpPr>
          <p:nvPr>
            <p:ph type="sldNum" sz="quarter" idx="5"/>
          </p:nvPr>
        </p:nvSpPr>
        <p:spPr/>
        <p:txBody>
          <a:bodyPr/>
          <a:lstStyle/>
          <a:p>
            <a:fld id="{BD30C4A4-ACF5-4750-8011-C15550F7B273}" type="slidenum">
              <a:rPr lang="en-US" smtClean="0"/>
              <a:t>13</a:t>
            </a:fld>
            <a:endParaRPr lang="en-US"/>
          </a:p>
        </p:txBody>
      </p:sp>
    </p:spTree>
    <p:extLst>
      <p:ext uri="{BB962C8B-B14F-4D97-AF65-F5344CB8AC3E}">
        <p14:creationId xmlns:p14="http://schemas.microsoft.com/office/powerpoint/2010/main" val="2378473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740"/>
        </a:solidFill>
        <a:effectLst/>
      </p:bgPr>
    </p:bg>
    <p:spTree>
      <p:nvGrpSpPr>
        <p:cNvPr id="1" name=""/>
        <p:cNvGrpSpPr/>
        <p:nvPr/>
      </p:nvGrpSpPr>
      <p:grpSpPr>
        <a:xfrm>
          <a:off x="0" y="0"/>
          <a:ext cx="0" cy="0"/>
          <a:chOff x="0" y="0"/>
          <a:chExt cx="0" cy="0"/>
        </a:xfrm>
      </p:grpSpPr>
      <p:sp>
        <p:nvSpPr>
          <p:cNvPr id="2" name="Rectangle 1"/>
          <p:cNvSpPr/>
          <p:nvPr/>
        </p:nvSpPr>
        <p:spPr>
          <a:xfrm>
            <a:off x="8778240" y="0"/>
            <a:ext cx="3429000" cy="6858000"/>
          </a:xfrm>
          <a:prstGeom prst="rect">
            <a:avLst/>
          </a:prstGeom>
          <a:solidFill>
            <a:srgbClr val="30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418320" y="0"/>
            <a:ext cx="2770632" cy="6858000"/>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822960"/>
            <a:ext cx="7589520" cy="320040"/>
          </a:xfrm>
          <a:prstGeom prst="rect">
            <a:avLst/>
          </a:prstGeom>
          <a:noFill/>
        </p:spPr>
        <p:txBody>
          <a:bodyPr wrap="square" lIns="73152" tIns="73152" rIns="73152" bIns="73152" anchor="t">
            <a:spAutoFit/>
          </a:bodyPr>
          <a:lstStyle/>
          <a:p>
            <a:pPr>
              <a:spcAft>
                <a:spcPts val="600"/>
              </a:spcAft>
              <a:defRPr sz="1200" b="1">
                <a:solidFill>
                  <a:srgbClr val="EFB03D"/>
                </a:solidFill>
                <a:latin typeface="Aptos"/>
              </a:defRPr>
            </a:pPr>
            <a:r>
              <a:t>CMSE 830 • MIDTERM PROJECT</a:t>
            </a:r>
          </a:p>
        </p:txBody>
      </p:sp>
      <p:sp>
        <p:nvSpPr>
          <p:cNvPr id="9" name="TextBox 8"/>
          <p:cNvSpPr txBox="1"/>
          <p:nvPr/>
        </p:nvSpPr>
        <p:spPr>
          <a:xfrm>
            <a:off x="777240" y="1508760"/>
            <a:ext cx="7680960" cy="1332673"/>
          </a:xfrm>
          <a:prstGeom prst="rect">
            <a:avLst/>
          </a:prstGeom>
          <a:noFill/>
        </p:spPr>
        <p:txBody>
          <a:bodyPr wrap="square" lIns="73152" tIns="73152" rIns="73152" bIns="73152" anchor="t">
            <a:spAutoFit/>
          </a:bodyPr>
          <a:lstStyle/>
          <a:p>
            <a:pPr>
              <a:spcAft>
                <a:spcPts val="600"/>
              </a:spcAft>
              <a:defRPr sz="3600" b="1">
                <a:solidFill>
                  <a:srgbClr val="FFFFFF"/>
                </a:solidFill>
                <a:latin typeface="Aptos"/>
              </a:defRPr>
            </a:pPr>
            <a:r>
              <a:rPr lang="en-US" dirty="0"/>
              <a:t>Project: </a:t>
            </a:r>
            <a:r>
              <a:rPr dirty="0"/>
              <a:t>Used-Car Price</a:t>
            </a:r>
          </a:p>
          <a:p>
            <a:pPr>
              <a:spcAft>
                <a:spcPts val="600"/>
              </a:spcAft>
              <a:defRPr sz="3600" b="0">
                <a:solidFill>
                  <a:srgbClr val="FFFFFF"/>
                </a:solidFill>
                <a:latin typeface="Aptos"/>
              </a:defRPr>
            </a:pPr>
            <a:endParaRPr dirty="0"/>
          </a:p>
        </p:txBody>
      </p:sp>
      <p:sp>
        <p:nvSpPr>
          <p:cNvPr id="10" name="TextBox 9"/>
          <p:cNvSpPr txBox="1"/>
          <p:nvPr/>
        </p:nvSpPr>
        <p:spPr>
          <a:xfrm>
            <a:off x="822960" y="3246120"/>
            <a:ext cx="7223760" cy="731520"/>
          </a:xfrm>
          <a:prstGeom prst="rect">
            <a:avLst/>
          </a:prstGeom>
          <a:noFill/>
        </p:spPr>
        <p:txBody>
          <a:bodyPr wrap="square" lIns="73152" tIns="73152" rIns="73152" bIns="73152" anchor="t">
            <a:spAutoFit/>
          </a:bodyPr>
          <a:lstStyle/>
          <a:p>
            <a:pPr>
              <a:spcAft>
                <a:spcPts val="600"/>
              </a:spcAft>
              <a:defRPr sz="2200" b="0">
                <a:solidFill>
                  <a:srgbClr val="DDEAF5"/>
                </a:solidFill>
                <a:latin typeface="Aptos"/>
              </a:defRPr>
            </a:pPr>
            <a:r>
              <a:t>What factors are associated with used-car prices?</a:t>
            </a:r>
          </a:p>
        </p:txBody>
      </p:sp>
      <p:sp>
        <p:nvSpPr>
          <p:cNvPr id="11" name="TextBox 10"/>
          <p:cNvSpPr txBox="1"/>
          <p:nvPr/>
        </p:nvSpPr>
        <p:spPr>
          <a:xfrm>
            <a:off x="822960" y="4572000"/>
            <a:ext cx="7132320" cy="731520"/>
          </a:xfrm>
          <a:prstGeom prst="rect">
            <a:avLst/>
          </a:prstGeom>
          <a:noFill/>
        </p:spPr>
        <p:txBody>
          <a:bodyPr wrap="square" lIns="73152" tIns="73152" rIns="73152" bIns="73152" anchor="t">
            <a:spAutoFit/>
          </a:bodyPr>
          <a:lstStyle/>
          <a:p>
            <a:pPr>
              <a:spcAft>
                <a:spcPts val="600"/>
              </a:spcAft>
              <a:defRPr sz="1600" b="0">
                <a:solidFill>
                  <a:srgbClr val="FFFFFF"/>
                </a:solidFill>
                <a:latin typeface="Aptos"/>
              </a:defRPr>
            </a:pPr>
            <a:r>
              <a:t>An interactive data exploration app for people shopping for a used car</a:t>
            </a:r>
          </a:p>
        </p:txBody>
      </p:sp>
      <p:sp>
        <p:nvSpPr>
          <p:cNvPr id="12" name="TextBox 11"/>
          <p:cNvSpPr txBox="1"/>
          <p:nvPr/>
        </p:nvSpPr>
        <p:spPr>
          <a:xfrm>
            <a:off x="822960" y="5943600"/>
            <a:ext cx="6858000" cy="317010"/>
          </a:xfrm>
          <a:prstGeom prst="rect">
            <a:avLst/>
          </a:prstGeom>
          <a:noFill/>
        </p:spPr>
        <p:txBody>
          <a:bodyPr wrap="square" lIns="73152" tIns="73152" rIns="73152" bIns="73152" anchor="t">
            <a:spAutoFit/>
          </a:bodyPr>
          <a:lstStyle/>
          <a:p>
            <a:pPr>
              <a:spcAft>
                <a:spcPts val="600"/>
              </a:spcAft>
              <a:defRPr sz="1100" b="0">
                <a:solidFill>
                  <a:srgbClr val="FFFFFF"/>
                </a:solidFill>
                <a:latin typeface="Aptos"/>
              </a:defRPr>
            </a:pPr>
            <a:r>
              <a:rPr b="1" dirty="0"/>
              <a:t>Presenter</a:t>
            </a:r>
            <a:r>
              <a:rPr dirty="0"/>
              <a:t>: </a:t>
            </a:r>
            <a:r>
              <a:rPr lang="en-US" dirty="0"/>
              <a:t> Masoud Moradi</a:t>
            </a:r>
            <a:r>
              <a:rPr dirty="0"/>
              <a:t>    </a:t>
            </a:r>
            <a:r>
              <a:rPr b="1" dirty="0"/>
              <a:t>Date</a:t>
            </a:r>
            <a:r>
              <a:rPr dirty="0"/>
              <a:t>: </a:t>
            </a:r>
            <a:r>
              <a:rPr lang="en-US" dirty="0"/>
              <a:t>10/15/2026</a:t>
            </a:r>
            <a:endParaRPr dirty="0"/>
          </a:p>
        </p:txBody>
      </p:sp>
      <p:pic>
        <p:nvPicPr>
          <p:cNvPr id="13" name="Picture 12" descr="Stilo Veiculos — Carros seminovos, 0km e blindados em São Bernardo Do Campo/SP">
            <a:extLst>
              <a:ext uri="{FF2B5EF4-FFF2-40B4-BE49-F238E27FC236}">
                <a16:creationId xmlns:a16="http://schemas.microsoft.com/office/drawing/2014/main" id="{4C0D33B3-618B-50B8-C8A0-6249FE69057E}"/>
              </a:ext>
            </a:extLst>
          </p:cNvPr>
          <p:cNvPicPr>
            <a:picLocks noChangeAspect="1"/>
          </p:cNvPicPr>
          <p:nvPr/>
        </p:nvPicPr>
        <p:blipFill>
          <a:blip r:embed="rId2"/>
          <a:stretch>
            <a:fillRect/>
          </a:stretch>
        </p:blipFill>
        <p:spPr>
          <a:xfrm>
            <a:off x="8682989" y="4901184"/>
            <a:ext cx="3505963" cy="195681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789920" cy="393954"/>
          </a:xfrm>
          <a:prstGeom prst="rect">
            <a:avLst/>
          </a:prstGeom>
          <a:noFill/>
        </p:spPr>
        <p:txBody>
          <a:bodyPr wrap="square" lIns="73152" tIns="73152" rIns="73152" bIns="73152" anchor="t">
            <a:spAutoFit/>
          </a:bodyPr>
          <a:lstStyle/>
          <a:p>
            <a:pPr>
              <a:spcAft>
                <a:spcPts val="600"/>
              </a:spcAft>
              <a:defRPr sz="1000" b="1">
                <a:solidFill>
                  <a:srgbClr val="289994"/>
                </a:solidFill>
                <a:latin typeface="Aptos"/>
              </a:defRPr>
            </a:pPr>
            <a:r>
              <a:rPr sz="1600" dirty="0"/>
              <a:t>01 • PROBLEM, AUDIENCE &amp; DATA</a:t>
            </a:r>
          </a:p>
        </p:txBody>
      </p:sp>
      <p:sp>
        <p:nvSpPr>
          <p:cNvPr id="4" name="TextBox 3"/>
          <p:cNvSpPr txBox="1"/>
          <p:nvPr/>
        </p:nvSpPr>
        <p:spPr>
          <a:xfrm>
            <a:off x="585216" y="731520"/>
            <a:ext cx="10972800" cy="530352"/>
          </a:xfrm>
          <a:prstGeom prst="rect">
            <a:avLst/>
          </a:prstGeom>
          <a:noFill/>
        </p:spPr>
        <p:txBody>
          <a:bodyPr wrap="square" lIns="73152" tIns="73152" rIns="73152" bIns="73152" anchor="t">
            <a:spAutoFit/>
          </a:bodyPr>
          <a:lstStyle/>
          <a:p>
            <a:pPr>
              <a:spcAft>
                <a:spcPts val="600"/>
              </a:spcAft>
              <a:defRPr sz="2700" b="1">
                <a:solidFill>
                  <a:srgbClr val="162740"/>
                </a:solidFill>
                <a:latin typeface="Aptos"/>
              </a:defRPr>
            </a:pPr>
            <a:r>
              <a:rPr dirty="0"/>
              <a:t>Helping buyers explore price differences</a:t>
            </a:r>
          </a:p>
        </p:txBody>
      </p:sp>
      <p:sp>
        <p:nvSpPr>
          <p:cNvPr id="6" name="TextBox 5"/>
          <p:cNvSpPr txBox="1"/>
          <p:nvPr/>
        </p:nvSpPr>
        <p:spPr>
          <a:xfrm>
            <a:off x="11292840" y="6473952"/>
            <a:ext cx="411480" cy="201168"/>
          </a:xfrm>
          <a:prstGeom prst="rect">
            <a:avLst/>
          </a:prstGeom>
          <a:noFill/>
        </p:spPr>
        <p:txBody>
          <a:bodyPr wrap="square" lIns="73152" tIns="73152" rIns="73152" bIns="73152" anchor="t">
            <a:spAutoFit/>
          </a:bodyPr>
          <a:lstStyle/>
          <a:p>
            <a:pPr algn="r">
              <a:spcAft>
                <a:spcPts val="600"/>
              </a:spcAft>
              <a:defRPr sz="900" b="0">
                <a:solidFill>
                  <a:srgbClr val="5E6C7A"/>
                </a:solidFill>
                <a:latin typeface="Aptos"/>
              </a:defRPr>
            </a:pPr>
            <a:r>
              <a:t>2</a:t>
            </a:r>
          </a:p>
        </p:txBody>
      </p:sp>
      <p:sp>
        <p:nvSpPr>
          <p:cNvPr id="7" name="Rounded Rectangle 6"/>
          <p:cNvSpPr/>
          <p:nvPr/>
        </p:nvSpPr>
        <p:spPr>
          <a:xfrm>
            <a:off x="640080" y="1828800"/>
            <a:ext cx="3474720" cy="324612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828800"/>
            <a:ext cx="73152" cy="3246120"/>
          </a:xfrm>
          <a:prstGeom prst="rect">
            <a:avLst/>
          </a:prstGeom>
          <a:solidFill>
            <a:srgbClr val="30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993392"/>
            <a:ext cx="3127248" cy="409343"/>
          </a:xfrm>
          <a:prstGeom prst="rect">
            <a:avLst/>
          </a:prstGeom>
          <a:noFill/>
        </p:spPr>
        <p:txBody>
          <a:bodyPr wrap="square" lIns="73152" tIns="73152" rIns="73152" bIns="73152" anchor="t">
            <a:spAutoFit/>
          </a:bodyPr>
          <a:lstStyle/>
          <a:p>
            <a:pPr>
              <a:spcAft>
                <a:spcPts val="600"/>
              </a:spcAft>
              <a:defRPr sz="1700" b="1">
                <a:solidFill>
                  <a:srgbClr val="162740"/>
                </a:solidFill>
                <a:latin typeface="Aptos"/>
              </a:defRPr>
            </a:pPr>
            <a:r>
              <a:rPr lang="en-US" dirty="0"/>
              <a:t>1. Target Audience</a:t>
            </a:r>
            <a:endParaRPr dirty="0"/>
          </a:p>
        </p:txBody>
      </p:sp>
      <p:sp>
        <p:nvSpPr>
          <p:cNvPr id="10" name="TextBox 9"/>
          <p:cNvSpPr txBox="1"/>
          <p:nvPr/>
        </p:nvSpPr>
        <p:spPr>
          <a:xfrm>
            <a:off x="841247" y="2395728"/>
            <a:ext cx="3108960" cy="1194173"/>
          </a:xfrm>
          <a:prstGeom prst="rect">
            <a:avLst/>
          </a:prstGeom>
          <a:noFill/>
        </p:spPr>
        <p:txBody>
          <a:bodyPr wrap="square" lIns="73152" tIns="73152" rIns="73152" bIns="73152" anchor="t">
            <a:spAutoFit/>
          </a:bodyPr>
          <a:lstStyle/>
          <a:p>
            <a:pPr marL="285750" indent="-285750">
              <a:spcAft>
                <a:spcPts val="600"/>
              </a:spcAft>
              <a:buFont typeface="Arial" panose="020B0604020202020204" pitchFamily="34" charset="0"/>
              <a:buChar char="•"/>
              <a:defRPr sz="1700" b="0">
                <a:solidFill>
                  <a:srgbClr val="27313D"/>
                </a:solidFill>
                <a:latin typeface="Aptos"/>
              </a:defRPr>
            </a:pPr>
            <a:r>
              <a:rPr dirty="0"/>
              <a:t>People who are considering buying a used car and want to compare vehicle characteristics.</a:t>
            </a:r>
          </a:p>
        </p:txBody>
      </p:sp>
      <p:sp>
        <p:nvSpPr>
          <p:cNvPr id="11" name="Rounded Rectangle 10"/>
          <p:cNvSpPr/>
          <p:nvPr/>
        </p:nvSpPr>
        <p:spPr>
          <a:xfrm>
            <a:off x="4343400" y="1828800"/>
            <a:ext cx="3474720" cy="324612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828800"/>
            <a:ext cx="73152" cy="3246120"/>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1993392"/>
            <a:ext cx="3127248" cy="409343"/>
          </a:xfrm>
          <a:prstGeom prst="rect">
            <a:avLst/>
          </a:prstGeom>
          <a:noFill/>
        </p:spPr>
        <p:txBody>
          <a:bodyPr wrap="square" lIns="73152" tIns="73152" rIns="73152" bIns="73152" anchor="t">
            <a:spAutoFit/>
          </a:bodyPr>
          <a:lstStyle/>
          <a:p>
            <a:pPr>
              <a:spcAft>
                <a:spcPts val="600"/>
              </a:spcAft>
              <a:defRPr sz="1700" b="1">
                <a:solidFill>
                  <a:srgbClr val="162740"/>
                </a:solidFill>
                <a:latin typeface="Aptos"/>
              </a:defRPr>
            </a:pPr>
            <a:r>
              <a:rPr lang="en-US" dirty="0"/>
              <a:t>2. </a:t>
            </a:r>
            <a:r>
              <a:rPr dirty="0"/>
              <a:t>Questions</a:t>
            </a:r>
          </a:p>
        </p:txBody>
      </p:sp>
      <p:sp>
        <p:nvSpPr>
          <p:cNvPr id="14" name="TextBox 13"/>
          <p:cNvSpPr txBox="1"/>
          <p:nvPr/>
        </p:nvSpPr>
        <p:spPr>
          <a:xfrm>
            <a:off x="4544568" y="2395728"/>
            <a:ext cx="3108960" cy="2587752"/>
          </a:xfrm>
          <a:prstGeom prst="rect">
            <a:avLst/>
          </a:prstGeom>
          <a:noFill/>
        </p:spPr>
        <p:txBody>
          <a:bodyPr wrap="square" lIns="73152" tIns="73152" rIns="73152" bIns="73152" anchor="t">
            <a:spAutoFit/>
          </a:bodyPr>
          <a:lstStyle/>
          <a:p>
            <a:pPr>
              <a:spcAft>
                <a:spcPts val="600"/>
              </a:spcAft>
              <a:defRPr sz="1600" b="0">
                <a:solidFill>
                  <a:srgbClr val="27313D"/>
                </a:solidFill>
                <a:latin typeface="Aptos"/>
              </a:defRPr>
            </a:pPr>
            <a:r>
              <a:rPr dirty="0"/>
              <a:t>• Does horsepower relate to price?</a:t>
            </a:r>
          </a:p>
          <a:p>
            <a:pPr>
              <a:spcAft>
                <a:spcPts val="600"/>
              </a:spcAft>
              <a:defRPr sz="1600" b="0">
                <a:solidFill>
                  <a:srgbClr val="27313D"/>
                </a:solidFill>
                <a:latin typeface="Aptos"/>
              </a:defRPr>
            </a:pPr>
            <a:r>
              <a:rPr dirty="0"/>
              <a:t>• Do larger engines tend to cost more?</a:t>
            </a:r>
          </a:p>
          <a:p>
            <a:pPr>
              <a:spcAft>
                <a:spcPts val="600"/>
              </a:spcAft>
              <a:defRPr sz="1600" b="0">
                <a:solidFill>
                  <a:srgbClr val="27313D"/>
                </a:solidFill>
                <a:latin typeface="Aptos"/>
              </a:defRPr>
            </a:pPr>
            <a:r>
              <a:rPr dirty="0"/>
              <a:t>• How do prices differ by manufacturer?</a:t>
            </a:r>
          </a:p>
        </p:txBody>
      </p:sp>
      <p:sp>
        <p:nvSpPr>
          <p:cNvPr id="15" name="Rounded Rectangle 14"/>
          <p:cNvSpPr/>
          <p:nvPr/>
        </p:nvSpPr>
        <p:spPr>
          <a:xfrm>
            <a:off x="8046720" y="1828800"/>
            <a:ext cx="3474720" cy="324612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828800"/>
            <a:ext cx="73152" cy="3246120"/>
          </a:xfrm>
          <a:prstGeom prst="rect">
            <a:avLst/>
          </a:prstGeom>
          <a:solidFill>
            <a:srgbClr val="EFB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993392"/>
            <a:ext cx="3127248" cy="409343"/>
          </a:xfrm>
          <a:prstGeom prst="rect">
            <a:avLst/>
          </a:prstGeom>
          <a:noFill/>
        </p:spPr>
        <p:txBody>
          <a:bodyPr wrap="square" lIns="73152" tIns="73152" rIns="73152" bIns="73152" anchor="t">
            <a:spAutoFit/>
          </a:bodyPr>
          <a:lstStyle/>
          <a:p>
            <a:pPr>
              <a:spcAft>
                <a:spcPts val="600"/>
              </a:spcAft>
              <a:defRPr sz="1700" b="1">
                <a:solidFill>
                  <a:srgbClr val="162740"/>
                </a:solidFill>
                <a:latin typeface="Aptos"/>
              </a:defRPr>
            </a:pPr>
            <a:r>
              <a:rPr lang="en-US" dirty="0"/>
              <a:t>3. </a:t>
            </a:r>
            <a:r>
              <a:rPr dirty="0"/>
              <a:t>Candidate dataset</a:t>
            </a:r>
          </a:p>
        </p:txBody>
      </p:sp>
      <p:sp>
        <p:nvSpPr>
          <p:cNvPr id="18" name="TextBox 17"/>
          <p:cNvSpPr txBox="1"/>
          <p:nvPr/>
        </p:nvSpPr>
        <p:spPr>
          <a:xfrm>
            <a:off x="8247888" y="2395728"/>
            <a:ext cx="3108960" cy="1609671"/>
          </a:xfrm>
          <a:prstGeom prst="rect">
            <a:avLst/>
          </a:prstGeom>
          <a:noFill/>
        </p:spPr>
        <p:txBody>
          <a:bodyPr wrap="square" lIns="73152" tIns="73152" rIns="73152" bIns="73152" anchor="t">
            <a:spAutoFit/>
          </a:bodyPr>
          <a:lstStyle/>
          <a:p>
            <a:pPr marL="285750" indent="-285750">
              <a:spcAft>
                <a:spcPts val="600"/>
              </a:spcAft>
              <a:buFont typeface="Arial" panose="020B0604020202020204" pitchFamily="34" charset="0"/>
              <a:buChar char="•"/>
              <a:defRPr sz="1600" b="0">
                <a:solidFill>
                  <a:srgbClr val="27313D"/>
                </a:solidFill>
                <a:latin typeface="Aptos"/>
              </a:defRPr>
            </a:pPr>
            <a:r>
              <a:rPr dirty="0"/>
              <a:t>UCI Automobile dataset</a:t>
            </a:r>
          </a:p>
          <a:p>
            <a:pPr marL="285750" indent="-285750">
              <a:spcAft>
                <a:spcPts val="600"/>
              </a:spcAft>
              <a:buFont typeface="Arial" panose="020B0604020202020204" pitchFamily="34" charset="0"/>
              <a:buChar char="•"/>
              <a:defRPr sz="1600" b="0">
                <a:solidFill>
                  <a:srgbClr val="27313D"/>
                </a:solidFill>
                <a:latin typeface="Aptos"/>
              </a:defRPr>
            </a:pPr>
            <a:r>
              <a:rPr lang="en-US" dirty="0"/>
              <a:t>- </a:t>
            </a:r>
            <a:r>
              <a:rPr dirty="0"/>
              <a:t>205 observations</a:t>
            </a:r>
          </a:p>
          <a:p>
            <a:pPr marL="285750" indent="-285750">
              <a:spcAft>
                <a:spcPts val="600"/>
              </a:spcAft>
              <a:buFont typeface="Arial" panose="020B0604020202020204" pitchFamily="34" charset="0"/>
              <a:buChar char="•"/>
              <a:defRPr sz="1600" b="0">
                <a:solidFill>
                  <a:srgbClr val="27313D"/>
                </a:solidFill>
                <a:latin typeface="Aptos"/>
              </a:defRPr>
            </a:pPr>
            <a:r>
              <a:rPr lang="en-US" dirty="0"/>
              <a:t>- </a:t>
            </a:r>
            <a:r>
              <a:rPr dirty="0"/>
              <a:t>25 variables </a:t>
            </a:r>
          </a:p>
          <a:p>
            <a:pPr marL="285750" indent="-285750">
              <a:spcAft>
                <a:spcPts val="600"/>
              </a:spcAft>
              <a:buFont typeface="Arial" panose="020B0604020202020204" pitchFamily="34" charset="0"/>
              <a:buChar char="•"/>
              <a:defRPr sz="1600" b="0">
                <a:solidFill>
                  <a:srgbClr val="27313D"/>
                </a:solidFill>
                <a:latin typeface="Aptos"/>
              </a:defRPr>
            </a:pPr>
            <a:r>
              <a:rPr dirty="0"/>
              <a:t>One row represents one automobile</a:t>
            </a:r>
          </a:p>
        </p:txBody>
      </p:sp>
      <p:sp>
        <p:nvSpPr>
          <p:cNvPr id="19" name="TextBox 18"/>
          <p:cNvSpPr txBox="1"/>
          <p:nvPr/>
        </p:nvSpPr>
        <p:spPr>
          <a:xfrm>
            <a:off x="798882" y="6065502"/>
            <a:ext cx="6894576" cy="317010"/>
          </a:xfrm>
          <a:prstGeom prst="rect">
            <a:avLst/>
          </a:prstGeom>
          <a:noFill/>
        </p:spPr>
        <p:txBody>
          <a:bodyPr wrap="square" lIns="73152" tIns="73152" rIns="73152" bIns="73152" anchor="t">
            <a:spAutoFit/>
          </a:bodyPr>
          <a:lstStyle/>
          <a:p>
            <a:pPr>
              <a:spcAft>
                <a:spcPts val="600"/>
              </a:spcAft>
              <a:defRPr sz="1100" b="0">
                <a:solidFill>
                  <a:srgbClr val="5E6C7A"/>
                </a:solidFill>
                <a:latin typeface="Aptos"/>
              </a:defRPr>
            </a:pPr>
            <a:r>
              <a:rPr dirty="0"/>
              <a:t>Source: UCI Machine Learning Repository — https://uci-ics-mlr-prod.aws.uci.edu/dataset/10/automobile</a:t>
            </a:r>
          </a:p>
        </p:txBody>
      </p:sp>
      <p:sp>
        <p:nvSpPr>
          <p:cNvPr id="20" name="TextBox 19"/>
          <p:cNvSpPr txBox="1"/>
          <p:nvPr/>
        </p:nvSpPr>
        <p:spPr>
          <a:xfrm>
            <a:off x="594360" y="6473952"/>
            <a:ext cx="5029200" cy="182880"/>
          </a:xfrm>
          <a:prstGeom prst="rect">
            <a:avLst/>
          </a:prstGeom>
          <a:noFill/>
        </p:spPr>
        <p:txBody>
          <a:bodyPr wrap="square" lIns="73152" tIns="73152" rIns="73152" bIns="73152" anchor="t">
            <a:spAutoFit/>
          </a:bodyPr>
          <a:lstStyle/>
          <a:p>
            <a:pPr>
              <a:spcAft>
                <a:spcPts val="600"/>
              </a:spcAft>
              <a:defRPr sz="900" b="0">
                <a:solidFill>
                  <a:srgbClr val="5E6C7A"/>
                </a:solidFill>
                <a:latin typeface="Aptos"/>
              </a:defRPr>
            </a:pPr>
            <a:r>
              <a:t>CMSE 830 • Midterm Project</a:t>
            </a:r>
          </a:p>
        </p:txBody>
      </p:sp>
      <p:pic>
        <p:nvPicPr>
          <p:cNvPr id="22" name="Picture 21">
            <a:extLst>
              <a:ext uri="{FF2B5EF4-FFF2-40B4-BE49-F238E27FC236}">
                <a16:creationId xmlns:a16="http://schemas.microsoft.com/office/drawing/2014/main" id="{83A16E8D-13A7-DE5C-22D8-194A5620E223}"/>
              </a:ext>
            </a:extLst>
          </p:cNvPr>
          <p:cNvPicPr>
            <a:picLocks noChangeAspect="1"/>
          </p:cNvPicPr>
          <p:nvPr/>
        </p:nvPicPr>
        <p:blipFill>
          <a:blip r:embed="rId2"/>
          <a:stretch>
            <a:fillRect/>
          </a:stretch>
        </p:blipFill>
        <p:spPr>
          <a:xfrm>
            <a:off x="7945831" y="4692439"/>
            <a:ext cx="4245864" cy="216556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789920" cy="393954"/>
          </a:xfrm>
          <a:prstGeom prst="rect">
            <a:avLst/>
          </a:prstGeom>
          <a:noFill/>
        </p:spPr>
        <p:txBody>
          <a:bodyPr wrap="square" lIns="73152" tIns="73152" rIns="73152" bIns="73152" anchor="t">
            <a:spAutoFit/>
          </a:bodyPr>
          <a:lstStyle/>
          <a:p>
            <a:pPr>
              <a:spcAft>
                <a:spcPts val="600"/>
              </a:spcAft>
              <a:defRPr sz="1000" b="1">
                <a:solidFill>
                  <a:srgbClr val="289994"/>
                </a:solidFill>
                <a:latin typeface="Aptos"/>
              </a:defRPr>
            </a:pPr>
            <a:r>
              <a:rPr sz="1600" dirty="0"/>
              <a:t>02 • DATA PREPARATION</a:t>
            </a:r>
          </a:p>
        </p:txBody>
      </p:sp>
      <p:sp>
        <p:nvSpPr>
          <p:cNvPr id="4" name="TextBox 3"/>
          <p:cNvSpPr txBox="1"/>
          <p:nvPr/>
        </p:nvSpPr>
        <p:spPr>
          <a:xfrm>
            <a:off x="594360" y="676656"/>
            <a:ext cx="10972800" cy="563231"/>
          </a:xfrm>
          <a:prstGeom prst="rect">
            <a:avLst/>
          </a:prstGeom>
          <a:noFill/>
        </p:spPr>
        <p:txBody>
          <a:bodyPr wrap="square" lIns="73152" tIns="73152" rIns="73152" bIns="73152" anchor="t">
            <a:spAutoFit/>
          </a:bodyPr>
          <a:lstStyle/>
          <a:p>
            <a:pPr>
              <a:spcAft>
                <a:spcPts val="600"/>
              </a:spcAft>
              <a:defRPr sz="2700" b="1">
                <a:solidFill>
                  <a:srgbClr val="162740"/>
                </a:solidFill>
                <a:latin typeface="Aptos"/>
              </a:defRPr>
            </a:pPr>
            <a:r>
              <a:rPr dirty="0"/>
              <a:t>Mak</a:t>
            </a:r>
            <a:r>
              <a:rPr lang="en-US" dirty="0"/>
              <a:t>ing</a:t>
            </a:r>
            <a:r>
              <a:rPr dirty="0"/>
              <a:t> the data ready to explore</a:t>
            </a:r>
            <a:r>
              <a:rPr lang="en-US" dirty="0"/>
              <a:t> (</a:t>
            </a:r>
            <a:r>
              <a:rPr lang="en-US" sz="2000" dirty="0"/>
              <a:t>Initial Data Analysis</a:t>
            </a:r>
            <a:r>
              <a:rPr lang="en-US" dirty="0"/>
              <a:t>)</a:t>
            </a:r>
          </a:p>
        </p:txBody>
      </p:sp>
      <p:sp>
        <p:nvSpPr>
          <p:cNvPr id="6" name="TextBox 5"/>
          <p:cNvSpPr txBox="1"/>
          <p:nvPr/>
        </p:nvSpPr>
        <p:spPr>
          <a:xfrm>
            <a:off x="11292840" y="6473952"/>
            <a:ext cx="411480" cy="201168"/>
          </a:xfrm>
          <a:prstGeom prst="rect">
            <a:avLst/>
          </a:prstGeom>
          <a:noFill/>
        </p:spPr>
        <p:txBody>
          <a:bodyPr wrap="square" lIns="73152" tIns="73152" rIns="73152" bIns="73152" anchor="t">
            <a:spAutoFit/>
          </a:bodyPr>
          <a:lstStyle/>
          <a:p>
            <a:pPr algn="r">
              <a:spcAft>
                <a:spcPts val="600"/>
              </a:spcAft>
              <a:defRPr sz="900" b="0">
                <a:solidFill>
                  <a:srgbClr val="5E6C7A"/>
                </a:solidFill>
                <a:latin typeface="Aptos"/>
              </a:defRPr>
            </a:pPr>
            <a:r>
              <a:t>3</a:t>
            </a:r>
          </a:p>
        </p:txBody>
      </p:sp>
      <p:sp>
        <p:nvSpPr>
          <p:cNvPr id="7" name="Rounded Rectangle 6"/>
          <p:cNvSpPr/>
          <p:nvPr/>
        </p:nvSpPr>
        <p:spPr>
          <a:xfrm>
            <a:off x="640080" y="1783080"/>
            <a:ext cx="3520440" cy="347472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783080"/>
            <a:ext cx="73152" cy="3474720"/>
          </a:xfrm>
          <a:prstGeom prst="rect">
            <a:avLst/>
          </a:prstGeom>
          <a:solidFill>
            <a:srgbClr val="306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947672"/>
            <a:ext cx="3172968" cy="409343"/>
          </a:xfrm>
          <a:prstGeom prst="rect">
            <a:avLst/>
          </a:prstGeom>
          <a:noFill/>
        </p:spPr>
        <p:txBody>
          <a:bodyPr wrap="square" lIns="73152" tIns="73152" rIns="73152" bIns="73152" anchor="t">
            <a:spAutoFit/>
          </a:bodyPr>
          <a:lstStyle/>
          <a:p>
            <a:pPr>
              <a:spcAft>
                <a:spcPts val="600"/>
              </a:spcAft>
              <a:defRPr sz="1700" b="1">
                <a:solidFill>
                  <a:srgbClr val="162740"/>
                </a:solidFill>
                <a:latin typeface="Aptos"/>
              </a:defRPr>
            </a:pPr>
            <a:r>
              <a:rPr lang="en-US" dirty="0"/>
              <a:t>1. </a:t>
            </a:r>
            <a:r>
              <a:rPr dirty="0"/>
              <a:t>Numerical variables</a:t>
            </a:r>
          </a:p>
        </p:txBody>
      </p:sp>
      <p:sp>
        <p:nvSpPr>
          <p:cNvPr id="10" name="TextBox 9"/>
          <p:cNvSpPr txBox="1"/>
          <p:nvPr/>
        </p:nvSpPr>
        <p:spPr>
          <a:xfrm>
            <a:off x="841247" y="2350008"/>
            <a:ext cx="3154680" cy="2502223"/>
          </a:xfrm>
          <a:prstGeom prst="rect">
            <a:avLst/>
          </a:prstGeom>
          <a:noFill/>
        </p:spPr>
        <p:txBody>
          <a:bodyPr wrap="square" lIns="73152" tIns="73152" rIns="73152" bIns="73152" anchor="t">
            <a:spAutoFit/>
          </a:bodyPr>
          <a:lstStyle/>
          <a:p>
            <a:pPr marL="285750" indent="-285750">
              <a:spcAft>
                <a:spcPts val="600"/>
              </a:spcAft>
              <a:buFont typeface="Arial" panose="020B0604020202020204" pitchFamily="34" charset="0"/>
              <a:buChar char="•"/>
              <a:defRPr sz="1600" b="0">
                <a:solidFill>
                  <a:srgbClr val="27313D"/>
                </a:solidFill>
                <a:latin typeface="Aptos"/>
              </a:defRPr>
            </a:pPr>
            <a:r>
              <a:rPr dirty="0"/>
              <a:t>Price</a:t>
            </a:r>
          </a:p>
          <a:p>
            <a:pPr marL="285750" indent="-285750">
              <a:spcAft>
                <a:spcPts val="600"/>
              </a:spcAft>
              <a:buFont typeface="Arial" panose="020B0604020202020204" pitchFamily="34" charset="0"/>
              <a:buChar char="•"/>
              <a:defRPr sz="1600" b="0">
                <a:solidFill>
                  <a:srgbClr val="27313D"/>
                </a:solidFill>
                <a:latin typeface="Aptos"/>
              </a:defRPr>
            </a:pPr>
            <a:r>
              <a:rPr dirty="0"/>
              <a:t>Horsepower</a:t>
            </a:r>
          </a:p>
          <a:p>
            <a:pPr marL="285750" indent="-285750">
              <a:spcAft>
                <a:spcPts val="600"/>
              </a:spcAft>
              <a:buFont typeface="Arial" panose="020B0604020202020204" pitchFamily="34" charset="0"/>
              <a:buChar char="•"/>
              <a:defRPr sz="1600" b="0">
                <a:solidFill>
                  <a:srgbClr val="27313D"/>
                </a:solidFill>
                <a:latin typeface="Aptos"/>
              </a:defRPr>
            </a:pPr>
            <a:r>
              <a:rPr dirty="0"/>
              <a:t>Engine size</a:t>
            </a:r>
          </a:p>
          <a:p>
            <a:pPr marL="285750" indent="-285750">
              <a:spcAft>
                <a:spcPts val="600"/>
              </a:spcAft>
              <a:buFont typeface="Arial" panose="020B0604020202020204" pitchFamily="34" charset="0"/>
              <a:buChar char="•"/>
              <a:defRPr sz="1600" b="0">
                <a:solidFill>
                  <a:srgbClr val="27313D"/>
                </a:solidFill>
                <a:latin typeface="Aptos"/>
              </a:defRPr>
            </a:pPr>
            <a:r>
              <a:rPr dirty="0"/>
              <a:t>Curb weight, MPG, length and width</a:t>
            </a:r>
          </a:p>
          <a:p>
            <a:pPr marL="285750" indent="-285750">
              <a:spcAft>
                <a:spcPts val="600"/>
              </a:spcAft>
              <a:buFont typeface="Arial" panose="020B0604020202020204" pitchFamily="34" charset="0"/>
              <a:buChar char="•"/>
              <a:defRPr sz="1600" b="0">
                <a:solidFill>
                  <a:srgbClr val="27313D"/>
                </a:solidFill>
                <a:latin typeface="Aptos"/>
              </a:defRPr>
            </a:pPr>
            <a:endParaRPr dirty="0"/>
          </a:p>
          <a:p>
            <a:pPr marL="285750" indent="-285750">
              <a:spcAft>
                <a:spcPts val="600"/>
              </a:spcAft>
              <a:buFont typeface="Arial" panose="020B0604020202020204" pitchFamily="34" charset="0"/>
              <a:buChar char="•"/>
              <a:defRPr sz="1600" b="0">
                <a:solidFill>
                  <a:srgbClr val="27313D"/>
                </a:solidFill>
                <a:latin typeface="Aptos"/>
              </a:defRPr>
            </a:pPr>
            <a:r>
              <a:rPr dirty="0"/>
              <a:t>Use numeric summaries and distributions.</a:t>
            </a:r>
          </a:p>
        </p:txBody>
      </p:sp>
      <p:sp>
        <p:nvSpPr>
          <p:cNvPr id="11" name="Rounded Rectangle 10"/>
          <p:cNvSpPr/>
          <p:nvPr/>
        </p:nvSpPr>
        <p:spPr>
          <a:xfrm>
            <a:off x="4343400" y="1783080"/>
            <a:ext cx="3520440" cy="347472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783080"/>
            <a:ext cx="73152" cy="3474720"/>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1947672"/>
            <a:ext cx="3172968" cy="409343"/>
          </a:xfrm>
          <a:prstGeom prst="rect">
            <a:avLst/>
          </a:prstGeom>
          <a:noFill/>
        </p:spPr>
        <p:txBody>
          <a:bodyPr wrap="square" lIns="73152" tIns="73152" rIns="73152" bIns="73152" anchor="t">
            <a:spAutoFit/>
          </a:bodyPr>
          <a:lstStyle/>
          <a:p>
            <a:pPr>
              <a:spcAft>
                <a:spcPts val="600"/>
              </a:spcAft>
              <a:defRPr sz="1700" b="1">
                <a:solidFill>
                  <a:srgbClr val="162740"/>
                </a:solidFill>
                <a:latin typeface="Aptos"/>
              </a:defRPr>
            </a:pPr>
            <a:r>
              <a:rPr lang="en-US" dirty="0"/>
              <a:t>2. </a:t>
            </a:r>
            <a:r>
              <a:rPr dirty="0"/>
              <a:t>Categorical variables</a:t>
            </a:r>
          </a:p>
        </p:txBody>
      </p:sp>
      <p:sp>
        <p:nvSpPr>
          <p:cNvPr id="14" name="TextBox 13"/>
          <p:cNvSpPr txBox="1"/>
          <p:nvPr/>
        </p:nvSpPr>
        <p:spPr>
          <a:xfrm>
            <a:off x="4544568" y="2350008"/>
            <a:ext cx="3154680" cy="2502223"/>
          </a:xfrm>
          <a:prstGeom prst="rect">
            <a:avLst/>
          </a:prstGeom>
          <a:noFill/>
        </p:spPr>
        <p:txBody>
          <a:bodyPr wrap="square" lIns="73152" tIns="73152" rIns="73152" bIns="73152" anchor="t">
            <a:spAutoFit/>
          </a:bodyPr>
          <a:lstStyle/>
          <a:p>
            <a:pPr marL="285750" indent="-285750">
              <a:spcAft>
                <a:spcPts val="600"/>
              </a:spcAft>
              <a:buFont typeface="Arial" panose="020B0604020202020204" pitchFamily="34" charset="0"/>
              <a:buChar char="•"/>
              <a:defRPr sz="1600" b="0">
                <a:solidFill>
                  <a:srgbClr val="27313D"/>
                </a:solidFill>
                <a:latin typeface="Aptos"/>
              </a:defRPr>
            </a:pPr>
            <a:r>
              <a:rPr dirty="0"/>
              <a:t>Manufacturer (make)</a:t>
            </a:r>
          </a:p>
          <a:p>
            <a:pPr marL="285750" indent="-285750">
              <a:spcAft>
                <a:spcPts val="600"/>
              </a:spcAft>
              <a:buFont typeface="Arial" panose="020B0604020202020204" pitchFamily="34" charset="0"/>
              <a:buChar char="•"/>
              <a:defRPr sz="1600" b="0">
                <a:solidFill>
                  <a:srgbClr val="27313D"/>
                </a:solidFill>
                <a:latin typeface="Aptos"/>
              </a:defRPr>
            </a:pPr>
            <a:r>
              <a:rPr dirty="0"/>
              <a:t>Body style</a:t>
            </a:r>
          </a:p>
          <a:p>
            <a:pPr marL="285750" indent="-285750">
              <a:spcAft>
                <a:spcPts val="600"/>
              </a:spcAft>
              <a:buFont typeface="Arial" panose="020B0604020202020204" pitchFamily="34" charset="0"/>
              <a:buChar char="•"/>
              <a:defRPr sz="1600" b="0">
                <a:solidFill>
                  <a:srgbClr val="27313D"/>
                </a:solidFill>
                <a:latin typeface="Aptos"/>
              </a:defRPr>
            </a:pPr>
            <a:r>
              <a:rPr dirty="0"/>
              <a:t>Fuel type</a:t>
            </a:r>
          </a:p>
          <a:p>
            <a:pPr marL="285750" indent="-285750">
              <a:spcAft>
                <a:spcPts val="600"/>
              </a:spcAft>
              <a:buFont typeface="Arial" panose="020B0604020202020204" pitchFamily="34" charset="0"/>
              <a:buChar char="•"/>
              <a:defRPr sz="1600" b="0">
                <a:solidFill>
                  <a:srgbClr val="27313D"/>
                </a:solidFill>
                <a:latin typeface="Aptos"/>
              </a:defRPr>
            </a:pPr>
            <a:r>
              <a:rPr dirty="0"/>
              <a:t>Drive wheels</a:t>
            </a:r>
          </a:p>
          <a:p>
            <a:pPr marL="285750" indent="-285750">
              <a:spcAft>
                <a:spcPts val="600"/>
              </a:spcAft>
              <a:buFont typeface="Arial" panose="020B0604020202020204" pitchFamily="34" charset="0"/>
              <a:buChar char="•"/>
              <a:defRPr sz="1600" b="0">
                <a:solidFill>
                  <a:srgbClr val="27313D"/>
                </a:solidFill>
                <a:latin typeface="Aptos"/>
              </a:defRPr>
            </a:pPr>
            <a:endParaRPr dirty="0"/>
          </a:p>
          <a:p>
            <a:pPr marL="285750" indent="-285750">
              <a:spcAft>
                <a:spcPts val="600"/>
              </a:spcAft>
              <a:buFont typeface="Arial" panose="020B0604020202020204" pitchFamily="34" charset="0"/>
              <a:buChar char="•"/>
              <a:defRPr sz="1600" b="0">
                <a:solidFill>
                  <a:srgbClr val="27313D"/>
                </a:solidFill>
                <a:latin typeface="Aptos"/>
              </a:defRPr>
            </a:pPr>
            <a:r>
              <a:rPr dirty="0"/>
              <a:t>Check category spelling and group sizes; encode if a model requires it.</a:t>
            </a:r>
          </a:p>
        </p:txBody>
      </p:sp>
      <p:sp>
        <p:nvSpPr>
          <p:cNvPr id="15" name="Rounded Rectangle 14"/>
          <p:cNvSpPr/>
          <p:nvPr/>
        </p:nvSpPr>
        <p:spPr>
          <a:xfrm>
            <a:off x="8046720" y="1783080"/>
            <a:ext cx="3520440" cy="347472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783080"/>
            <a:ext cx="73152" cy="3474720"/>
          </a:xfrm>
          <a:prstGeom prst="rect">
            <a:avLst/>
          </a:prstGeom>
          <a:solidFill>
            <a:srgbClr val="EFB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947672"/>
            <a:ext cx="3172968" cy="409343"/>
          </a:xfrm>
          <a:prstGeom prst="rect">
            <a:avLst/>
          </a:prstGeom>
          <a:noFill/>
        </p:spPr>
        <p:txBody>
          <a:bodyPr wrap="square" lIns="73152" tIns="73152" rIns="73152" bIns="73152" anchor="t">
            <a:spAutoFit/>
          </a:bodyPr>
          <a:lstStyle/>
          <a:p>
            <a:pPr>
              <a:spcAft>
                <a:spcPts val="600"/>
              </a:spcAft>
              <a:defRPr sz="1700" b="1">
                <a:solidFill>
                  <a:srgbClr val="162740"/>
                </a:solidFill>
                <a:latin typeface="Aptos"/>
              </a:defRPr>
            </a:pPr>
            <a:r>
              <a:rPr lang="en-US" dirty="0"/>
              <a:t>3 .</a:t>
            </a:r>
            <a:r>
              <a:rPr dirty="0"/>
              <a:t>Quality checks</a:t>
            </a:r>
          </a:p>
        </p:txBody>
      </p:sp>
      <p:sp>
        <p:nvSpPr>
          <p:cNvPr id="18" name="TextBox 17"/>
          <p:cNvSpPr txBox="1"/>
          <p:nvPr/>
        </p:nvSpPr>
        <p:spPr>
          <a:xfrm>
            <a:off x="8247888" y="2350008"/>
            <a:ext cx="3154680" cy="2225225"/>
          </a:xfrm>
          <a:prstGeom prst="rect">
            <a:avLst/>
          </a:prstGeom>
          <a:noFill/>
        </p:spPr>
        <p:txBody>
          <a:bodyPr wrap="square" lIns="73152" tIns="73152" rIns="73152" bIns="73152" anchor="t">
            <a:spAutoFit/>
          </a:bodyPr>
          <a:lstStyle/>
          <a:p>
            <a:pPr marL="285750" indent="-285750">
              <a:spcAft>
                <a:spcPts val="600"/>
              </a:spcAft>
              <a:buFont typeface="Arial" panose="020B0604020202020204" pitchFamily="34" charset="0"/>
              <a:buChar char="•"/>
              <a:defRPr sz="1500" b="0">
                <a:solidFill>
                  <a:srgbClr val="27313D"/>
                </a:solidFill>
                <a:latin typeface="Aptos"/>
              </a:defRPr>
            </a:pPr>
            <a:r>
              <a:rPr dirty="0"/>
              <a:t>Inspect data types and dimensions</a:t>
            </a:r>
          </a:p>
          <a:p>
            <a:pPr marL="285750" indent="-285750">
              <a:spcAft>
                <a:spcPts val="600"/>
              </a:spcAft>
              <a:buFont typeface="Arial" panose="020B0604020202020204" pitchFamily="34" charset="0"/>
              <a:buChar char="•"/>
              <a:defRPr sz="1500" b="0">
                <a:solidFill>
                  <a:srgbClr val="27313D"/>
                </a:solidFill>
                <a:latin typeface="Aptos"/>
              </a:defRPr>
            </a:pPr>
            <a:r>
              <a:rPr dirty="0"/>
              <a:t>Count missing values in price and horsepower</a:t>
            </a:r>
          </a:p>
          <a:p>
            <a:pPr marL="285750" indent="-285750">
              <a:spcAft>
                <a:spcPts val="600"/>
              </a:spcAft>
              <a:buFont typeface="Arial" panose="020B0604020202020204" pitchFamily="34" charset="0"/>
              <a:buChar char="•"/>
              <a:defRPr sz="1500" b="0">
                <a:solidFill>
                  <a:srgbClr val="27313D"/>
                </a:solidFill>
                <a:latin typeface="Aptos"/>
              </a:defRPr>
            </a:pPr>
            <a:r>
              <a:rPr dirty="0"/>
              <a:t> Check unusual values and duplicates</a:t>
            </a:r>
          </a:p>
          <a:p>
            <a:pPr marL="285750" indent="-285750">
              <a:spcAft>
                <a:spcPts val="600"/>
              </a:spcAft>
              <a:buFont typeface="Arial" panose="020B0604020202020204" pitchFamily="34" charset="0"/>
              <a:buChar char="•"/>
              <a:defRPr sz="1500" b="0">
                <a:solidFill>
                  <a:srgbClr val="27313D"/>
                </a:solidFill>
                <a:latin typeface="Aptos"/>
              </a:defRPr>
            </a:pPr>
            <a:r>
              <a:rPr dirty="0"/>
              <a:t> Confirm how dropped rows affect results</a:t>
            </a:r>
          </a:p>
        </p:txBody>
      </p:sp>
      <p:sp>
        <p:nvSpPr>
          <p:cNvPr id="20" name="TextBox 19"/>
          <p:cNvSpPr txBox="1"/>
          <p:nvPr/>
        </p:nvSpPr>
        <p:spPr>
          <a:xfrm>
            <a:off x="475569" y="6565392"/>
            <a:ext cx="5029200" cy="182880"/>
          </a:xfrm>
          <a:prstGeom prst="rect">
            <a:avLst/>
          </a:prstGeom>
          <a:noFill/>
        </p:spPr>
        <p:txBody>
          <a:bodyPr wrap="square" lIns="73152" tIns="73152" rIns="73152" bIns="73152" anchor="t">
            <a:spAutoFit/>
          </a:bodyPr>
          <a:lstStyle/>
          <a:p>
            <a:pPr>
              <a:spcAft>
                <a:spcPts val="600"/>
              </a:spcAft>
              <a:defRPr sz="900" b="0">
                <a:solidFill>
                  <a:srgbClr val="5E6C7A"/>
                </a:solidFill>
                <a:latin typeface="Aptos"/>
              </a:defRPr>
            </a:pPr>
            <a:r>
              <a:t>CMSE 830 • Midterm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12648" y="932688"/>
            <a:ext cx="1051560" cy="54864"/>
          </a:xfrm>
          <a:prstGeom prst="rect">
            <a:avLst/>
          </a:prstGeom>
          <a:solidFill>
            <a:srgbClr val="23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73952"/>
            <a:ext cx="274320" cy="230832"/>
          </a:xfrm>
          <a:prstGeom prst="rect">
            <a:avLst/>
          </a:prstGeom>
          <a:noFill/>
        </p:spPr>
        <p:txBody>
          <a:bodyPr wrap="square" lIns="45720" rIns="45720" anchor="t">
            <a:spAutoFit/>
          </a:bodyPr>
          <a:lstStyle/>
          <a:p>
            <a:pPr algn="r">
              <a:spcAft>
                <a:spcPts val="0"/>
              </a:spcAft>
            </a:pPr>
            <a:r>
              <a:rPr lang="en-US" sz="900" b="0" dirty="0">
                <a:solidFill>
                  <a:srgbClr val="5A697D"/>
                </a:solidFill>
                <a:latin typeface="Aptos"/>
              </a:rPr>
              <a:t>4</a:t>
            </a:r>
            <a:endParaRPr sz="900" b="0" dirty="0">
              <a:solidFill>
                <a:srgbClr val="5A697D"/>
              </a:solidFill>
              <a:latin typeface="Aptos"/>
            </a:endParaRPr>
          </a:p>
        </p:txBody>
      </p:sp>
      <p:sp>
        <p:nvSpPr>
          <p:cNvPr id="6" name="TextBox 5"/>
          <p:cNvSpPr txBox="1"/>
          <p:nvPr/>
        </p:nvSpPr>
        <p:spPr>
          <a:xfrm>
            <a:off x="713232" y="1207008"/>
            <a:ext cx="10698480" cy="502920"/>
          </a:xfrm>
          <a:prstGeom prst="rect">
            <a:avLst/>
          </a:prstGeom>
          <a:noFill/>
        </p:spPr>
        <p:txBody>
          <a:bodyPr wrap="square" lIns="45720" rIns="45720" anchor="t">
            <a:spAutoFit/>
          </a:bodyPr>
          <a:lstStyle/>
          <a:p>
            <a:pPr algn="l">
              <a:spcAft>
                <a:spcPts val="0"/>
              </a:spcAft>
            </a:pPr>
            <a:r>
              <a:rPr sz="1700" b="0" dirty="0">
                <a:solidFill>
                  <a:srgbClr val="232D3A"/>
                </a:solidFill>
                <a:latin typeface="Aptos"/>
              </a:rPr>
              <a:t>The source uses “?” for unavailable values; these were converted to missing values (</a:t>
            </a:r>
            <a:r>
              <a:rPr sz="1700" b="0" dirty="0" err="1">
                <a:solidFill>
                  <a:srgbClr val="232D3A"/>
                </a:solidFill>
                <a:latin typeface="Aptos"/>
              </a:rPr>
              <a:t>NaN</a:t>
            </a:r>
            <a:r>
              <a:rPr sz="1700" b="0" dirty="0">
                <a:solidFill>
                  <a:srgbClr val="232D3A"/>
                </a:solidFill>
                <a:latin typeface="Aptos"/>
              </a:rPr>
              <a:t>).</a:t>
            </a:r>
          </a:p>
        </p:txBody>
      </p:sp>
      <p:sp>
        <p:nvSpPr>
          <p:cNvPr id="7" name="TextBox 6"/>
          <p:cNvSpPr txBox="1"/>
          <p:nvPr/>
        </p:nvSpPr>
        <p:spPr>
          <a:xfrm>
            <a:off x="2084832" y="5811012"/>
            <a:ext cx="1947672" cy="276999"/>
          </a:xfrm>
          <a:prstGeom prst="rect">
            <a:avLst/>
          </a:prstGeom>
          <a:noFill/>
        </p:spPr>
        <p:txBody>
          <a:bodyPr wrap="square" lIns="45720" rIns="45720" anchor="t">
            <a:spAutoFit/>
          </a:bodyPr>
          <a:lstStyle/>
          <a:p>
            <a:pPr algn="l">
              <a:spcAft>
                <a:spcPts val="0"/>
              </a:spcAft>
            </a:pPr>
            <a:r>
              <a:rPr lang="en-US" sz="1200" dirty="0">
                <a:solidFill>
                  <a:srgbClr val="162742"/>
                </a:solidFill>
                <a:latin typeface="Aptos"/>
              </a:rPr>
              <a:t>Number of m</a:t>
            </a:r>
            <a:r>
              <a:rPr sz="1200" dirty="0">
                <a:solidFill>
                  <a:srgbClr val="162742"/>
                </a:solidFill>
                <a:latin typeface="Aptos"/>
              </a:rPr>
              <a:t>issing values</a:t>
            </a:r>
          </a:p>
        </p:txBody>
      </p:sp>
      <p:graphicFrame>
        <p:nvGraphicFramePr>
          <p:cNvPr id="8" name="Chart 7"/>
          <p:cNvGraphicFramePr>
            <a:graphicFrameLocks noGrp="1"/>
          </p:cNvGraphicFramePr>
          <p:nvPr>
            <p:extLst>
              <p:ext uri="{D42A27DB-BD31-4B8C-83A1-F6EECF244321}">
                <p14:modId xmlns:p14="http://schemas.microsoft.com/office/powerpoint/2010/main" val="3485632595"/>
              </p:ext>
            </p:extLst>
          </p:nvPr>
        </p:nvGraphicFramePr>
        <p:xfrm>
          <a:off x="502920" y="2564892"/>
          <a:ext cx="5852160" cy="3246120"/>
        </p:xfrm>
        <a:graphic>
          <a:graphicData uri="http://schemas.openxmlformats.org/drawingml/2006/chart">
            <c:chart xmlns:c="http://schemas.openxmlformats.org/drawingml/2006/chart" xmlns:r="http://schemas.openxmlformats.org/officeDocument/2006/relationships" r:id="rId2"/>
          </a:graphicData>
        </a:graphic>
      </p:graphicFrame>
      <p:sp>
        <p:nvSpPr>
          <p:cNvPr id="9" name="Rounded Rectangle 8"/>
          <p:cNvSpPr/>
          <p:nvPr/>
        </p:nvSpPr>
        <p:spPr>
          <a:xfrm>
            <a:off x="6903720" y="1920240"/>
            <a:ext cx="4160520" cy="1051560"/>
          </a:xfrm>
          <a:prstGeom prst="roundRect">
            <a:avLst/>
          </a:prstGeom>
          <a:solidFill>
            <a:srgbClr val="F2F6FA"/>
          </a:solidFill>
          <a:ln>
            <a:solidFill>
              <a:srgbClr val="DE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903720" y="1920240"/>
            <a:ext cx="73152" cy="1051560"/>
          </a:xfrm>
          <a:prstGeom prst="rect">
            <a:avLst/>
          </a:prstGeom>
          <a:solidFill>
            <a:srgbClr val="2A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04888" y="2066544"/>
            <a:ext cx="3813048" cy="320040"/>
          </a:xfrm>
          <a:prstGeom prst="rect">
            <a:avLst/>
          </a:prstGeom>
          <a:noFill/>
        </p:spPr>
        <p:txBody>
          <a:bodyPr wrap="square" lIns="45720" rIns="45720" anchor="t">
            <a:spAutoFit/>
          </a:bodyPr>
          <a:lstStyle/>
          <a:p>
            <a:pPr algn="l">
              <a:spcAft>
                <a:spcPts val="0"/>
              </a:spcAft>
            </a:pPr>
            <a:r>
              <a:rPr sz="1500" b="1">
                <a:solidFill>
                  <a:srgbClr val="162742"/>
                </a:solidFill>
                <a:latin typeface="Aptos"/>
              </a:rPr>
              <a:t>No exact duplicate rows</a:t>
            </a:r>
          </a:p>
        </p:txBody>
      </p:sp>
      <p:sp>
        <p:nvSpPr>
          <p:cNvPr id="12" name="TextBox 11"/>
          <p:cNvSpPr txBox="1"/>
          <p:nvPr/>
        </p:nvSpPr>
        <p:spPr>
          <a:xfrm>
            <a:off x="7104888" y="2450592"/>
            <a:ext cx="3794759" cy="429767"/>
          </a:xfrm>
          <a:prstGeom prst="rect">
            <a:avLst/>
          </a:prstGeom>
          <a:noFill/>
        </p:spPr>
        <p:txBody>
          <a:bodyPr wrap="square" lIns="45720" rIns="45720" anchor="t">
            <a:spAutoFit/>
          </a:bodyPr>
          <a:lstStyle/>
          <a:p>
            <a:pPr algn="l">
              <a:spcAft>
                <a:spcPts val="0"/>
              </a:spcAft>
            </a:pPr>
            <a:r>
              <a:rPr sz="1300" b="0" dirty="0">
                <a:solidFill>
                  <a:srgbClr val="232D3A"/>
                </a:solidFill>
                <a:latin typeface="Aptos"/>
              </a:rPr>
              <a:t>The duplicate check found 0 duplicates.</a:t>
            </a:r>
          </a:p>
        </p:txBody>
      </p:sp>
      <p:sp>
        <p:nvSpPr>
          <p:cNvPr id="17" name="Rounded Rectangle 16"/>
          <p:cNvSpPr/>
          <p:nvPr/>
        </p:nvSpPr>
        <p:spPr>
          <a:xfrm>
            <a:off x="6903720" y="3136392"/>
            <a:ext cx="4160520" cy="1051560"/>
          </a:xfrm>
          <a:prstGeom prst="roundRect">
            <a:avLst/>
          </a:prstGeom>
          <a:solidFill>
            <a:srgbClr val="F2F6FA"/>
          </a:solidFill>
          <a:ln>
            <a:solidFill>
              <a:srgbClr val="DE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903720" y="3136392"/>
            <a:ext cx="73152" cy="1051560"/>
          </a:xfrm>
          <a:prstGeom prst="rect">
            <a:avLst/>
          </a:prstGeom>
          <a:solidFill>
            <a:srgbClr val="EBA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86600" y="3201733"/>
            <a:ext cx="3794759" cy="707886"/>
          </a:xfrm>
          <a:prstGeom prst="rect">
            <a:avLst/>
          </a:prstGeom>
          <a:noFill/>
        </p:spPr>
        <p:txBody>
          <a:bodyPr wrap="square" lIns="45720" rIns="45720" anchor="t">
            <a:spAutoFit/>
          </a:bodyPr>
          <a:lstStyle/>
          <a:p>
            <a:r>
              <a:rPr lang="en-US" sz="1300" dirty="0">
                <a:latin typeface="Aptos"/>
              </a:rPr>
              <a:t>Price has 4 missing values (1.95%)</a:t>
            </a:r>
          </a:p>
          <a:p>
            <a:r>
              <a:rPr lang="en-US" sz="1300" dirty="0">
                <a:latin typeface="Aptos"/>
              </a:rPr>
              <a:t>Horsepower has 2 missing values (0.98%).</a:t>
            </a:r>
          </a:p>
          <a:p>
            <a:r>
              <a:rPr lang="en-US" sz="1400" dirty="0" err="1"/>
              <a:t>normalized_losses</a:t>
            </a:r>
            <a:r>
              <a:rPr lang="en-US" sz="1400" dirty="0"/>
              <a:t> has 41 missing values (20.00%).</a:t>
            </a:r>
            <a:endParaRPr sz="1300" b="0" dirty="0">
              <a:solidFill>
                <a:srgbClr val="232D3A"/>
              </a:solidFill>
              <a:latin typeface="Aptos"/>
            </a:endParaRPr>
          </a:p>
        </p:txBody>
      </p:sp>
      <p:sp>
        <p:nvSpPr>
          <p:cNvPr id="23" name="TextBox 22">
            <a:extLst>
              <a:ext uri="{FF2B5EF4-FFF2-40B4-BE49-F238E27FC236}">
                <a16:creationId xmlns:a16="http://schemas.microsoft.com/office/drawing/2014/main" id="{C6F77308-B886-F576-987D-BA3321AD32D8}"/>
              </a:ext>
            </a:extLst>
          </p:cNvPr>
          <p:cNvSpPr txBox="1"/>
          <p:nvPr/>
        </p:nvSpPr>
        <p:spPr>
          <a:xfrm>
            <a:off x="594360" y="292608"/>
            <a:ext cx="10068197" cy="393954"/>
          </a:xfrm>
          <a:prstGeom prst="rect">
            <a:avLst/>
          </a:prstGeom>
          <a:noFill/>
        </p:spPr>
        <p:txBody>
          <a:bodyPr wrap="square" lIns="73152" tIns="73152" rIns="73152" bIns="73152" anchor="t">
            <a:spAutoFit/>
          </a:bodyPr>
          <a:lstStyle/>
          <a:p>
            <a:pPr>
              <a:spcAft>
                <a:spcPts val="600"/>
              </a:spcAft>
              <a:defRPr sz="1000" b="1">
                <a:solidFill>
                  <a:srgbClr val="289994"/>
                </a:solidFill>
                <a:latin typeface="Aptos"/>
              </a:defRPr>
            </a:pPr>
            <a:r>
              <a:rPr sz="1600" dirty="0"/>
              <a:t>02 • DATA PREPARATION</a:t>
            </a:r>
          </a:p>
        </p:txBody>
      </p:sp>
      <p:sp>
        <p:nvSpPr>
          <p:cNvPr id="29" name="Rectangle 28">
            <a:extLst>
              <a:ext uri="{FF2B5EF4-FFF2-40B4-BE49-F238E27FC236}">
                <a16:creationId xmlns:a16="http://schemas.microsoft.com/office/drawing/2014/main" id="{737471E2-E6B8-D133-3D57-D6C8297A8EBB}"/>
              </a:ext>
            </a:extLst>
          </p:cNvPr>
          <p:cNvSpPr/>
          <p:nvPr/>
        </p:nvSpPr>
        <p:spPr>
          <a:xfrm>
            <a:off x="0" y="0"/>
            <a:ext cx="12191695" cy="118872"/>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a:extLst>
              <a:ext uri="{FF2B5EF4-FFF2-40B4-BE49-F238E27FC236}">
                <a16:creationId xmlns:a16="http://schemas.microsoft.com/office/drawing/2014/main" id="{685F0235-E262-B285-7FF9-1EFAA3F18235}"/>
              </a:ext>
            </a:extLst>
          </p:cNvPr>
          <p:cNvPicPr>
            <a:picLocks noChangeAspect="1"/>
          </p:cNvPicPr>
          <p:nvPr/>
        </p:nvPicPr>
        <p:blipFill>
          <a:blip r:embed="rId3"/>
          <a:stretch>
            <a:fillRect/>
          </a:stretch>
        </p:blipFill>
        <p:spPr>
          <a:xfrm>
            <a:off x="7313371" y="4352544"/>
            <a:ext cx="3750869" cy="23522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F5993-A7F5-3E4D-EE1D-927FA61F9AC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4CF14DB-C66B-EFE2-6DC7-ED08C8FE96A5}"/>
              </a:ext>
            </a:extLst>
          </p:cNvPr>
          <p:cNvSpPr/>
          <p:nvPr/>
        </p:nvSpPr>
        <p:spPr>
          <a:xfrm>
            <a:off x="0" y="0"/>
            <a:ext cx="12191695" cy="118872"/>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D48BF5F-56AF-30E8-C7D7-BBB0260122C6}"/>
              </a:ext>
            </a:extLst>
          </p:cNvPr>
          <p:cNvSpPr txBox="1"/>
          <p:nvPr/>
        </p:nvSpPr>
        <p:spPr>
          <a:xfrm>
            <a:off x="594360" y="292608"/>
            <a:ext cx="10789920" cy="393954"/>
          </a:xfrm>
          <a:prstGeom prst="rect">
            <a:avLst/>
          </a:prstGeom>
          <a:noFill/>
        </p:spPr>
        <p:txBody>
          <a:bodyPr wrap="square" lIns="73152" tIns="73152" rIns="73152" bIns="73152" anchor="t">
            <a:spAutoFit/>
          </a:bodyPr>
          <a:lstStyle/>
          <a:p>
            <a:pPr>
              <a:spcAft>
                <a:spcPts val="600"/>
              </a:spcAft>
              <a:defRPr sz="1000" b="1">
                <a:solidFill>
                  <a:srgbClr val="289994"/>
                </a:solidFill>
                <a:latin typeface="Aptos"/>
              </a:defRPr>
            </a:pPr>
            <a:r>
              <a:rPr sz="1600" dirty="0"/>
              <a:t>03 • EDA VISUALIZATION</a:t>
            </a:r>
          </a:p>
        </p:txBody>
      </p:sp>
      <p:sp>
        <p:nvSpPr>
          <p:cNvPr id="6" name="TextBox 5">
            <a:extLst>
              <a:ext uri="{FF2B5EF4-FFF2-40B4-BE49-F238E27FC236}">
                <a16:creationId xmlns:a16="http://schemas.microsoft.com/office/drawing/2014/main" id="{AB23850D-5747-C1BB-D82D-86CBAEE80123}"/>
              </a:ext>
            </a:extLst>
          </p:cNvPr>
          <p:cNvSpPr txBox="1"/>
          <p:nvPr/>
        </p:nvSpPr>
        <p:spPr>
          <a:xfrm>
            <a:off x="11292840" y="6473952"/>
            <a:ext cx="411480" cy="286232"/>
          </a:xfrm>
          <a:prstGeom prst="rect">
            <a:avLst/>
          </a:prstGeom>
          <a:noFill/>
        </p:spPr>
        <p:txBody>
          <a:bodyPr wrap="square" lIns="73152" tIns="73152" rIns="73152" bIns="73152" anchor="t">
            <a:spAutoFit/>
          </a:bodyPr>
          <a:lstStyle/>
          <a:p>
            <a:pPr algn="r">
              <a:spcAft>
                <a:spcPts val="600"/>
              </a:spcAft>
              <a:defRPr sz="900" b="0">
                <a:solidFill>
                  <a:srgbClr val="5E6C7A"/>
                </a:solidFill>
                <a:latin typeface="Aptos"/>
              </a:defRPr>
            </a:pPr>
            <a:r>
              <a:rPr lang="en-US" dirty="0"/>
              <a:t>5</a:t>
            </a:r>
            <a:endParaRPr dirty="0"/>
          </a:p>
        </p:txBody>
      </p:sp>
      <p:sp>
        <p:nvSpPr>
          <p:cNvPr id="31" name="TextBox 30">
            <a:extLst>
              <a:ext uri="{FF2B5EF4-FFF2-40B4-BE49-F238E27FC236}">
                <a16:creationId xmlns:a16="http://schemas.microsoft.com/office/drawing/2014/main" id="{48D64C0F-3F5A-B4E9-8B3A-391F5E803308}"/>
              </a:ext>
            </a:extLst>
          </p:cNvPr>
          <p:cNvSpPr txBox="1"/>
          <p:nvPr/>
        </p:nvSpPr>
        <p:spPr>
          <a:xfrm>
            <a:off x="594360" y="6473952"/>
            <a:ext cx="5029200" cy="182880"/>
          </a:xfrm>
          <a:prstGeom prst="rect">
            <a:avLst/>
          </a:prstGeom>
          <a:noFill/>
        </p:spPr>
        <p:txBody>
          <a:bodyPr wrap="square" lIns="73152" tIns="73152" rIns="73152" bIns="73152" anchor="t">
            <a:spAutoFit/>
          </a:bodyPr>
          <a:lstStyle/>
          <a:p>
            <a:pPr>
              <a:spcAft>
                <a:spcPts val="600"/>
              </a:spcAft>
              <a:defRPr sz="900" b="0">
                <a:solidFill>
                  <a:srgbClr val="5E6C7A"/>
                </a:solidFill>
                <a:latin typeface="Aptos"/>
              </a:defRPr>
            </a:pPr>
            <a:r>
              <a:t>CMSE 830 • Midterm Project</a:t>
            </a:r>
          </a:p>
        </p:txBody>
      </p:sp>
      <p:sp>
        <p:nvSpPr>
          <p:cNvPr id="12" name="TextBox 11">
            <a:extLst>
              <a:ext uri="{FF2B5EF4-FFF2-40B4-BE49-F238E27FC236}">
                <a16:creationId xmlns:a16="http://schemas.microsoft.com/office/drawing/2014/main" id="{429F9F84-5827-28EC-B753-22EC893D7F00}"/>
              </a:ext>
            </a:extLst>
          </p:cNvPr>
          <p:cNvSpPr txBox="1"/>
          <p:nvPr/>
        </p:nvSpPr>
        <p:spPr>
          <a:xfrm>
            <a:off x="8768791" y="1851750"/>
            <a:ext cx="3422904" cy="2126864"/>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US" dirty="0"/>
              <a:t>Vehicle prices are right-skewed.</a:t>
            </a:r>
          </a:p>
          <a:p>
            <a:pPr>
              <a:lnSpc>
                <a:spcPct val="150000"/>
              </a:lnSpc>
            </a:pPr>
            <a:endParaRPr lang="en-US" dirty="0"/>
          </a:p>
          <a:p>
            <a:pPr marL="285750" indent="-285750">
              <a:lnSpc>
                <a:spcPct val="150000"/>
              </a:lnSpc>
              <a:buFont typeface="Wingdings" panose="05000000000000000000" pitchFamily="2" charset="2"/>
              <a:buChar char="q"/>
            </a:pPr>
            <a:r>
              <a:rPr lang="en-US" dirty="0"/>
              <a:t> With a mean = $13,207.</a:t>
            </a:r>
          </a:p>
          <a:p>
            <a:pPr marL="285750" indent="-285750">
              <a:lnSpc>
                <a:spcPct val="150000"/>
              </a:lnSpc>
              <a:buFont typeface="Wingdings" panose="05000000000000000000" pitchFamily="2" charset="2"/>
              <a:buChar char="q"/>
            </a:pPr>
            <a:endParaRPr lang="en-US" dirty="0"/>
          </a:p>
          <a:p>
            <a:pPr marL="285750" indent="-285750">
              <a:lnSpc>
                <a:spcPct val="150000"/>
              </a:lnSpc>
              <a:buFont typeface="Wingdings" panose="05000000000000000000" pitchFamily="2" charset="2"/>
              <a:buChar char="q"/>
            </a:pPr>
            <a:r>
              <a:rPr lang="en-US" dirty="0"/>
              <a:t> With a median = $10,295.</a:t>
            </a:r>
          </a:p>
        </p:txBody>
      </p:sp>
      <p:pic>
        <p:nvPicPr>
          <p:cNvPr id="18" name="Picture 17">
            <a:extLst>
              <a:ext uri="{FF2B5EF4-FFF2-40B4-BE49-F238E27FC236}">
                <a16:creationId xmlns:a16="http://schemas.microsoft.com/office/drawing/2014/main" id="{B21CBFB5-53C8-10A3-A197-D4DE87C7A4E8}"/>
              </a:ext>
            </a:extLst>
          </p:cNvPr>
          <p:cNvPicPr>
            <a:picLocks noChangeAspect="1"/>
          </p:cNvPicPr>
          <p:nvPr/>
        </p:nvPicPr>
        <p:blipFill>
          <a:blip r:embed="rId2"/>
          <a:stretch>
            <a:fillRect/>
          </a:stretch>
        </p:blipFill>
        <p:spPr>
          <a:xfrm>
            <a:off x="0" y="1437042"/>
            <a:ext cx="8769096" cy="4648200"/>
          </a:xfrm>
          <a:prstGeom prst="rect">
            <a:avLst/>
          </a:prstGeom>
        </p:spPr>
      </p:pic>
    </p:spTree>
    <p:extLst>
      <p:ext uri="{BB962C8B-B14F-4D97-AF65-F5344CB8AC3E}">
        <p14:creationId xmlns:p14="http://schemas.microsoft.com/office/powerpoint/2010/main" val="1654378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789920" cy="393954"/>
          </a:xfrm>
          <a:prstGeom prst="rect">
            <a:avLst/>
          </a:prstGeom>
          <a:noFill/>
        </p:spPr>
        <p:txBody>
          <a:bodyPr wrap="square" lIns="73152" tIns="73152" rIns="73152" bIns="73152" anchor="t">
            <a:spAutoFit/>
          </a:bodyPr>
          <a:lstStyle/>
          <a:p>
            <a:pPr>
              <a:spcAft>
                <a:spcPts val="600"/>
              </a:spcAft>
              <a:defRPr sz="1000" b="1">
                <a:solidFill>
                  <a:srgbClr val="289994"/>
                </a:solidFill>
                <a:latin typeface="Aptos"/>
              </a:defRPr>
            </a:pPr>
            <a:r>
              <a:rPr sz="1600" dirty="0"/>
              <a:t>03 • EDA VISUALIZATION</a:t>
            </a:r>
          </a:p>
        </p:txBody>
      </p:sp>
      <p:sp>
        <p:nvSpPr>
          <p:cNvPr id="4" name="TextBox 3"/>
          <p:cNvSpPr txBox="1"/>
          <p:nvPr/>
        </p:nvSpPr>
        <p:spPr>
          <a:xfrm>
            <a:off x="594360" y="736092"/>
            <a:ext cx="10972800" cy="530352"/>
          </a:xfrm>
          <a:prstGeom prst="rect">
            <a:avLst/>
          </a:prstGeom>
          <a:noFill/>
        </p:spPr>
        <p:txBody>
          <a:bodyPr wrap="square" lIns="73152" tIns="73152" rIns="73152" bIns="73152" anchor="t">
            <a:spAutoFit/>
          </a:bodyPr>
          <a:lstStyle/>
          <a:p>
            <a:pPr>
              <a:spcAft>
                <a:spcPts val="600"/>
              </a:spcAft>
              <a:defRPr sz="2700" b="1">
                <a:solidFill>
                  <a:srgbClr val="162740"/>
                </a:solidFill>
                <a:latin typeface="Aptos"/>
              </a:defRPr>
            </a:pPr>
            <a:r>
              <a:rPr dirty="0"/>
              <a:t>Question 1: Is horsepower related to price?</a:t>
            </a:r>
          </a:p>
        </p:txBody>
      </p:sp>
      <p:sp>
        <p:nvSpPr>
          <p:cNvPr id="6" name="TextBox 5"/>
          <p:cNvSpPr txBox="1"/>
          <p:nvPr/>
        </p:nvSpPr>
        <p:spPr>
          <a:xfrm>
            <a:off x="11292840" y="6473952"/>
            <a:ext cx="411480" cy="286232"/>
          </a:xfrm>
          <a:prstGeom prst="rect">
            <a:avLst/>
          </a:prstGeom>
          <a:noFill/>
        </p:spPr>
        <p:txBody>
          <a:bodyPr wrap="square" lIns="73152" tIns="73152" rIns="73152" bIns="73152" anchor="t">
            <a:spAutoFit/>
          </a:bodyPr>
          <a:lstStyle/>
          <a:p>
            <a:pPr algn="r">
              <a:spcAft>
                <a:spcPts val="600"/>
              </a:spcAft>
              <a:defRPr sz="900" b="0">
                <a:solidFill>
                  <a:srgbClr val="5E6C7A"/>
                </a:solidFill>
                <a:latin typeface="Aptos"/>
              </a:defRPr>
            </a:pPr>
            <a:r>
              <a:rPr lang="en-US" dirty="0"/>
              <a:t>6</a:t>
            </a:r>
            <a:endParaRPr dirty="0"/>
          </a:p>
        </p:txBody>
      </p:sp>
      <p:sp>
        <p:nvSpPr>
          <p:cNvPr id="30" name="TextBox 29"/>
          <p:cNvSpPr txBox="1"/>
          <p:nvPr/>
        </p:nvSpPr>
        <p:spPr>
          <a:xfrm>
            <a:off x="8664175" y="2269995"/>
            <a:ext cx="3451625" cy="2994666"/>
          </a:xfrm>
          <a:prstGeom prst="rect">
            <a:avLst/>
          </a:prstGeom>
          <a:noFill/>
        </p:spPr>
        <p:txBody>
          <a:bodyPr wrap="square" lIns="73152" tIns="73152" rIns="73152" bIns="73152" anchor="t">
            <a:spAutoFit/>
          </a:bodyPr>
          <a:lstStyle/>
          <a:p>
            <a:pPr marL="285750" indent="-285750">
              <a:spcAft>
                <a:spcPts val="600"/>
              </a:spcAft>
              <a:buFont typeface="Wingdings" panose="05000000000000000000" pitchFamily="2" charset="2"/>
              <a:buChar char="q"/>
              <a:defRPr sz="1500" b="0">
                <a:solidFill>
                  <a:srgbClr val="27313D"/>
                </a:solidFill>
                <a:latin typeface="Aptos"/>
              </a:defRPr>
            </a:pPr>
            <a:r>
              <a:rPr lang="en-US" sz="1500" dirty="0">
                <a:solidFill>
                  <a:srgbClr val="27313D"/>
                </a:solidFill>
                <a:latin typeface="Aptos"/>
              </a:rPr>
              <a:t>Horsepower has a </a:t>
            </a:r>
            <a:r>
              <a:rPr lang="en-US" sz="1500" b="1" dirty="0">
                <a:solidFill>
                  <a:srgbClr val="27313D"/>
                </a:solidFill>
                <a:latin typeface="Aptos"/>
              </a:rPr>
              <a:t>strong positive </a:t>
            </a:r>
            <a:r>
              <a:rPr lang="en-US" sz="1500" dirty="0">
                <a:solidFill>
                  <a:srgbClr val="27313D"/>
                </a:solidFill>
                <a:latin typeface="Aptos"/>
              </a:rPr>
              <a:t>relationship with car prices (correlation = 0.811).</a:t>
            </a:r>
          </a:p>
          <a:p>
            <a:pPr marL="285750" indent="-285750">
              <a:spcAft>
                <a:spcPts val="600"/>
              </a:spcAft>
              <a:buFont typeface="Wingdings" panose="05000000000000000000" pitchFamily="2" charset="2"/>
              <a:buChar char="q"/>
              <a:defRPr sz="1500" b="0">
                <a:solidFill>
                  <a:srgbClr val="27313D"/>
                </a:solidFill>
                <a:latin typeface="Aptos"/>
              </a:defRPr>
            </a:pPr>
            <a:endParaRPr lang="en-US" sz="1500" dirty="0">
              <a:solidFill>
                <a:srgbClr val="27313D"/>
              </a:solidFill>
              <a:latin typeface="Aptos"/>
            </a:endParaRPr>
          </a:p>
          <a:p>
            <a:pPr marL="285750" indent="-285750">
              <a:spcAft>
                <a:spcPts val="600"/>
              </a:spcAft>
              <a:buFont typeface="Wingdings" panose="05000000000000000000" pitchFamily="2" charset="2"/>
              <a:buChar char="q"/>
              <a:defRPr sz="1500" b="0">
                <a:solidFill>
                  <a:srgbClr val="27313D"/>
                </a:solidFill>
                <a:latin typeface="Aptos"/>
              </a:defRPr>
            </a:pPr>
            <a:r>
              <a:rPr lang="en-US" sz="1500" dirty="0">
                <a:solidFill>
                  <a:srgbClr val="27313D"/>
                </a:solidFill>
                <a:latin typeface="Aptos"/>
              </a:rPr>
              <a:t> </a:t>
            </a:r>
            <a:r>
              <a:rPr lang="en-US" sz="1500" b="1" dirty="0">
                <a:solidFill>
                  <a:srgbClr val="27313D"/>
                </a:solidFill>
                <a:latin typeface="Aptos"/>
              </a:rPr>
              <a:t>Other factors</a:t>
            </a:r>
            <a:r>
              <a:rPr lang="en-US" sz="1500" dirty="0">
                <a:solidFill>
                  <a:srgbClr val="27313D"/>
                </a:solidFill>
                <a:latin typeface="Aptos"/>
              </a:rPr>
              <a:t>, such as brand, engine size, and features, can also affect prices.</a:t>
            </a:r>
          </a:p>
          <a:p>
            <a:pPr marL="285750" indent="-285750">
              <a:spcAft>
                <a:spcPts val="600"/>
              </a:spcAft>
              <a:buFont typeface="Wingdings" panose="05000000000000000000" pitchFamily="2" charset="2"/>
              <a:buChar char="q"/>
              <a:defRPr sz="1500" b="0">
                <a:solidFill>
                  <a:srgbClr val="27313D"/>
                </a:solidFill>
                <a:latin typeface="Aptos"/>
              </a:defRPr>
            </a:pPr>
            <a:endParaRPr lang="en-US" sz="1500" dirty="0">
              <a:solidFill>
                <a:srgbClr val="27313D"/>
              </a:solidFill>
              <a:latin typeface="Aptos"/>
            </a:endParaRPr>
          </a:p>
          <a:p>
            <a:pPr marL="285750" indent="-285750">
              <a:spcAft>
                <a:spcPts val="600"/>
              </a:spcAft>
              <a:buFont typeface="Wingdings" panose="05000000000000000000" pitchFamily="2" charset="2"/>
              <a:buChar char="q"/>
              <a:defRPr sz="1500" b="0">
                <a:solidFill>
                  <a:srgbClr val="27313D"/>
                </a:solidFill>
                <a:latin typeface="Aptos"/>
              </a:defRPr>
            </a:pPr>
            <a:r>
              <a:rPr lang="en-US" sz="1500" dirty="0">
                <a:solidFill>
                  <a:srgbClr val="27313D"/>
                </a:solidFill>
                <a:latin typeface="Aptos"/>
              </a:rPr>
              <a:t>Horsepower helps predict car prices, but </a:t>
            </a:r>
            <a:r>
              <a:rPr lang="en-US" sz="1500" b="1" dirty="0">
                <a:solidFill>
                  <a:srgbClr val="27313D"/>
                </a:solidFill>
                <a:latin typeface="Aptos"/>
              </a:rPr>
              <a:t>correlation does not imply causation</a:t>
            </a:r>
            <a:r>
              <a:rPr lang="en-US" sz="1500" dirty="0">
                <a:solidFill>
                  <a:srgbClr val="27313D"/>
                </a:solidFill>
                <a:latin typeface="Aptos"/>
              </a:rPr>
              <a:t>.</a:t>
            </a:r>
          </a:p>
        </p:txBody>
      </p:sp>
      <p:sp>
        <p:nvSpPr>
          <p:cNvPr id="31" name="TextBox 30"/>
          <p:cNvSpPr txBox="1"/>
          <p:nvPr/>
        </p:nvSpPr>
        <p:spPr>
          <a:xfrm>
            <a:off x="594360" y="6574536"/>
            <a:ext cx="5029200" cy="182880"/>
          </a:xfrm>
          <a:prstGeom prst="rect">
            <a:avLst/>
          </a:prstGeom>
          <a:noFill/>
        </p:spPr>
        <p:txBody>
          <a:bodyPr wrap="square" lIns="73152" tIns="73152" rIns="73152" bIns="73152" anchor="t">
            <a:spAutoFit/>
          </a:bodyPr>
          <a:lstStyle/>
          <a:p>
            <a:pPr>
              <a:spcAft>
                <a:spcPts val="600"/>
              </a:spcAft>
              <a:defRPr sz="900" b="0">
                <a:solidFill>
                  <a:srgbClr val="5E6C7A"/>
                </a:solidFill>
                <a:latin typeface="Aptos"/>
              </a:defRPr>
            </a:pPr>
            <a:r>
              <a:t>CMSE 830 • Midterm Project</a:t>
            </a:r>
          </a:p>
        </p:txBody>
      </p:sp>
      <p:pic>
        <p:nvPicPr>
          <p:cNvPr id="12" name="Picture 11">
            <a:extLst>
              <a:ext uri="{FF2B5EF4-FFF2-40B4-BE49-F238E27FC236}">
                <a16:creationId xmlns:a16="http://schemas.microsoft.com/office/drawing/2014/main" id="{47EE8604-A745-840F-6C6B-03BBB56EE0BB}"/>
              </a:ext>
            </a:extLst>
          </p:cNvPr>
          <p:cNvPicPr>
            <a:picLocks noChangeAspect="1"/>
          </p:cNvPicPr>
          <p:nvPr/>
        </p:nvPicPr>
        <p:blipFill>
          <a:blip r:embed="rId2"/>
          <a:stretch>
            <a:fillRect/>
          </a:stretch>
        </p:blipFill>
        <p:spPr>
          <a:xfrm>
            <a:off x="211063" y="1877082"/>
            <a:ext cx="8295574" cy="46883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F56639-ADD6-1AD0-4B68-67DA1517F035}"/>
              </a:ext>
            </a:extLst>
          </p:cNvPr>
          <p:cNvPicPr>
            <a:picLocks noChangeAspect="1"/>
          </p:cNvPicPr>
          <p:nvPr/>
        </p:nvPicPr>
        <p:blipFill>
          <a:blip r:embed="rId2"/>
          <a:stretch>
            <a:fillRect/>
          </a:stretch>
        </p:blipFill>
        <p:spPr>
          <a:xfrm>
            <a:off x="48982" y="1606332"/>
            <a:ext cx="9363075" cy="5114925"/>
          </a:xfrm>
          <a:prstGeom prst="rect">
            <a:avLst/>
          </a:prstGeom>
        </p:spPr>
      </p:pic>
      <p:sp>
        <p:nvSpPr>
          <p:cNvPr id="9" name="TextBox 8">
            <a:extLst>
              <a:ext uri="{FF2B5EF4-FFF2-40B4-BE49-F238E27FC236}">
                <a16:creationId xmlns:a16="http://schemas.microsoft.com/office/drawing/2014/main" id="{C328CD70-7ACC-148F-0CFB-EB1AFEAA1333}"/>
              </a:ext>
            </a:extLst>
          </p:cNvPr>
          <p:cNvSpPr txBox="1"/>
          <p:nvPr/>
        </p:nvSpPr>
        <p:spPr>
          <a:xfrm>
            <a:off x="9405257" y="2428704"/>
            <a:ext cx="2737761" cy="2456057"/>
          </a:xfrm>
          <a:prstGeom prst="rect">
            <a:avLst/>
          </a:prstGeom>
          <a:noFill/>
        </p:spPr>
        <p:txBody>
          <a:bodyPr wrap="square" lIns="73152" tIns="73152" rIns="73152" bIns="73152" anchor="t">
            <a:spAutoFit/>
          </a:bodyPr>
          <a:lstStyle/>
          <a:p>
            <a:pPr marL="285750" indent="-285750">
              <a:spcAft>
                <a:spcPts val="600"/>
              </a:spcAft>
              <a:buFont typeface="Wingdings" panose="05000000000000000000" pitchFamily="2" charset="2"/>
              <a:buChar char="q"/>
              <a:defRPr sz="1500" b="0">
                <a:solidFill>
                  <a:srgbClr val="27313D"/>
                </a:solidFill>
                <a:latin typeface="Aptos"/>
              </a:defRPr>
            </a:pPr>
            <a:r>
              <a:rPr lang="en-US" sz="1500" dirty="0">
                <a:solidFill>
                  <a:srgbClr val="27313D"/>
                </a:solidFill>
                <a:latin typeface="Aptos"/>
              </a:rPr>
              <a:t>Engine size has a </a:t>
            </a:r>
            <a:r>
              <a:rPr lang="en-US" sz="1500" b="1" dirty="0">
                <a:solidFill>
                  <a:srgbClr val="27313D"/>
                </a:solidFill>
                <a:latin typeface="Aptos"/>
              </a:rPr>
              <a:t>strong positive correlation </a:t>
            </a:r>
            <a:r>
              <a:rPr lang="en-US" sz="1500" dirty="0">
                <a:solidFill>
                  <a:srgbClr val="27313D"/>
                </a:solidFill>
                <a:latin typeface="Aptos"/>
              </a:rPr>
              <a:t>with car prices (r = 0.872).</a:t>
            </a:r>
          </a:p>
          <a:p>
            <a:pPr marL="285750" indent="-285750">
              <a:spcAft>
                <a:spcPts val="600"/>
              </a:spcAft>
              <a:buFont typeface="Wingdings" panose="05000000000000000000" pitchFamily="2" charset="2"/>
              <a:buChar char="q"/>
              <a:defRPr sz="1500" b="0">
                <a:solidFill>
                  <a:srgbClr val="27313D"/>
                </a:solidFill>
                <a:latin typeface="Aptos"/>
              </a:defRPr>
            </a:pPr>
            <a:endParaRPr lang="en-US" sz="1500" dirty="0">
              <a:solidFill>
                <a:srgbClr val="27313D"/>
              </a:solidFill>
              <a:latin typeface="Aptos"/>
            </a:endParaRPr>
          </a:p>
          <a:p>
            <a:pPr marL="285750" indent="-285750">
              <a:spcAft>
                <a:spcPts val="600"/>
              </a:spcAft>
              <a:buFont typeface="Wingdings" panose="05000000000000000000" pitchFamily="2" charset="2"/>
              <a:buChar char="q"/>
              <a:defRPr sz="1500" b="0">
                <a:solidFill>
                  <a:srgbClr val="27313D"/>
                </a:solidFill>
                <a:latin typeface="Aptos"/>
              </a:defRPr>
            </a:pPr>
            <a:endParaRPr lang="en-US" sz="1500" dirty="0">
              <a:solidFill>
                <a:srgbClr val="27313D"/>
              </a:solidFill>
              <a:latin typeface="Aptos"/>
            </a:endParaRPr>
          </a:p>
          <a:p>
            <a:pPr marL="285750" indent="-285750">
              <a:spcAft>
                <a:spcPts val="600"/>
              </a:spcAft>
              <a:buFont typeface="Wingdings" panose="05000000000000000000" pitchFamily="2" charset="2"/>
              <a:buChar char="q"/>
              <a:defRPr sz="1500" b="0">
                <a:solidFill>
                  <a:srgbClr val="27313D"/>
                </a:solidFill>
                <a:latin typeface="Aptos"/>
              </a:defRPr>
            </a:pPr>
            <a:r>
              <a:rPr lang="en-US" sz="1500" b="1" dirty="0">
                <a:solidFill>
                  <a:srgbClr val="27313D"/>
                </a:solidFill>
                <a:latin typeface="Aptos"/>
              </a:rPr>
              <a:t>Larger engines tend to cost more</a:t>
            </a:r>
            <a:r>
              <a:rPr lang="en-US" sz="1500" dirty="0">
                <a:solidFill>
                  <a:srgbClr val="27313D"/>
                </a:solidFill>
                <a:latin typeface="Aptos"/>
              </a:rPr>
              <a:t>; again, other factors also influence vehicle prices.</a:t>
            </a:r>
          </a:p>
        </p:txBody>
      </p:sp>
      <p:sp>
        <p:nvSpPr>
          <p:cNvPr id="11" name="TextBox 10">
            <a:extLst>
              <a:ext uri="{FF2B5EF4-FFF2-40B4-BE49-F238E27FC236}">
                <a16:creationId xmlns:a16="http://schemas.microsoft.com/office/drawing/2014/main" id="{91E44CB6-2BF5-DDDE-DA33-6E8A7EF6A2BE}"/>
              </a:ext>
            </a:extLst>
          </p:cNvPr>
          <p:cNvSpPr txBox="1"/>
          <p:nvPr/>
        </p:nvSpPr>
        <p:spPr>
          <a:xfrm>
            <a:off x="594360" y="292608"/>
            <a:ext cx="10789920" cy="393954"/>
          </a:xfrm>
          <a:prstGeom prst="rect">
            <a:avLst/>
          </a:prstGeom>
          <a:noFill/>
        </p:spPr>
        <p:txBody>
          <a:bodyPr wrap="square" lIns="73152" tIns="73152" rIns="73152" bIns="73152" anchor="t">
            <a:spAutoFit/>
          </a:bodyPr>
          <a:lstStyle/>
          <a:p>
            <a:pPr>
              <a:spcAft>
                <a:spcPts val="600"/>
              </a:spcAft>
              <a:defRPr sz="1000" b="1">
                <a:solidFill>
                  <a:srgbClr val="289994"/>
                </a:solidFill>
                <a:latin typeface="Aptos"/>
              </a:defRPr>
            </a:pPr>
            <a:r>
              <a:rPr sz="1600" dirty="0"/>
              <a:t>03 • EDA VISUALIZATION</a:t>
            </a:r>
          </a:p>
        </p:txBody>
      </p:sp>
      <p:sp>
        <p:nvSpPr>
          <p:cNvPr id="13" name="TextBox 12">
            <a:extLst>
              <a:ext uri="{FF2B5EF4-FFF2-40B4-BE49-F238E27FC236}">
                <a16:creationId xmlns:a16="http://schemas.microsoft.com/office/drawing/2014/main" id="{D84258F1-7C47-1235-B58F-0B0E633386E6}"/>
              </a:ext>
            </a:extLst>
          </p:cNvPr>
          <p:cNvSpPr txBox="1"/>
          <p:nvPr/>
        </p:nvSpPr>
        <p:spPr>
          <a:xfrm>
            <a:off x="594360" y="736092"/>
            <a:ext cx="9774283" cy="563231"/>
          </a:xfrm>
          <a:prstGeom prst="rect">
            <a:avLst/>
          </a:prstGeom>
          <a:noFill/>
        </p:spPr>
        <p:txBody>
          <a:bodyPr wrap="square" lIns="73152" tIns="73152" rIns="73152" bIns="73152" anchor="t">
            <a:spAutoFit/>
          </a:bodyPr>
          <a:lstStyle/>
          <a:p>
            <a:pPr>
              <a:spcAft>
                <a:spcPts val="600"/>
              </a:spcAft>
              <a:defRPr sz="2700" b="1">
                <a:solidFill>
                  <a:srgbClr val="162740"/>
                </a:solidFill>
                <a:latin typeface="Aptos"/>
              </a:defRPr>
            </a:pPr>
            <a:r>
              <a:rPr lang="en-US" sz="2700" dirty="0">
                <a:solidFill>
                  <a:srgbClr val="162740"/>
                </a:solidFill>
                <a:latin typeface="Aptos"/>
              </a:rPr>
              <a:t>Relationship Between Engine Size and Price</a:t>
            </a:r>
            <a:endParaRPr dirty="0"/>
          </a:p>
        </p:txBody>
      </p:sp>
      <p:sp>
        <p:nvSpPr>
          <p:cNvPr id="15" name="TextBox 14">
            <a:extLst>
              <a:ext uri="{FF2B5EF4-FFF2-40B4-BE49-F238E27FC236}">
                <a16:creationId xmlns:a16="http://schemas.microsoft.com/office/drawing/2014/main" id="{C0B0278B-8656-FBB6-D68B-C2ABBCED336C}"/>
              </a:ext>
            </a:extLst>
          </p:cNvPr>
          <p:cNvSpPr txBox="1"/>
          <p:nvPr/>
        </p:nvSpPr>
        <p:spPr>
          <a:xfrm>
            <a:off x="11292840" y="6473952"/>
            <a:ext cx="411480" cy="286232"/>
          </a:xfrm>
          <a:prstGeom prst="rect">
            <a:avLst/>
          </a:prstGeom>
          <a:noFill/>
        </p:spPr>
        <p:txBody>
          <a:bodyPr wrap="square" lIns="73152" tIns="73152" rIns="73152" bIns="73152" anchor="t">
            <a:spAutoFit/>
          </a:bodyPr>
          <a:lstStyle/>
          <a:p>
            <a:pPr algn="r">
              <a:spcAft>
                <a:spcPts val="600"/>
              </a:spcAft>
              <a:defRPr sz="900" b="0">
                <a:solidFill>
                  <a:srgbClr val="5E6C7A"/>
                </a:solidFill>
                <a:latin typeface="Aptos"/>
              </a:defRPr>
            </a:pPr>
            <a:r>
              <a:rPr lang="en-US" dirty="0"/>
              <a:t>7</a:t>
            </a:r>
            <a:endParaRPr dirty="0"/>
          </a:p>
        </p:txBody>
      </p:sp>
      <p:sp>
        <p:nvSpPr>
          <p:cNvPr id="17" name="Rectangle 16">
            <a:extLst>
              <a:ext uri="{FF2B5EF4-FFF2-40B4-BE49-F238E27FC236}">
                <a16:creationId xmlns:a16="http://schemas.microsoft.com/office/drawing/2014/main" id="{64F11952-C032-ED42-4433-523B6C57E5F6}"/>
              </a:ext>
            </a:extLst>
          </p:cNvPr>
          <p:cNvSpPr/>
          <p:nvPr/>
        </p:nvSpPr>
        <p:spPr>
          <a:xfrm>
            <a:off x="0" y="0"/>
            <a:ext cx="12191695" cy="118872"/>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10699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789920" cy="393954"/>
          </a:xfrm>
          <a:prstGeom prst="rect">
            <a:avLst/>
          </a:prstGeom>
          <a:noFill/>
        </p:spPr>
        <p:txBody>
          <a:bodyPr wrap="square" lIns="73152" tIns="73152" rIns="73152" bIns="73152" anchor="t">
            <a:spAutoFit/>
          </a:bodyPr>
          <a:lstStyle/>
          <a:p>
            <a:pPr>
              <a:spcAft>
                <a:spcPts val="600"/>
              </a:spcAft>
              <a:defRPr sz="1000" b="1">
                <a:solidFill>
                  <a:srgbClr val="289994"/>
                </a:solidFill>
                <a:latin typeface="Aptos"/>
              </a:defRPr>
            </a:pPr>
            <a:r>
              <a:rPr sz="1600" dirty="0"/>
              <a:t>03 • EDA VISUALIZATION</a:t>
            </a:r>
          </a:p>
        </p:txBody>
      </p:sp>
      <p:sp>
        <p:nvSpPr>
          <p:cNvPr id="4" name="TextBox 3"/>
          <p:cNvSpPr txBox="1"/>
          <p:nvPr/>
        </p:nvSpPr>
        <p:spPr>
          <a:xfrm>
            <a:off x="609447" y="733101"/>
            <a:ext cx="10972800" cy="530352"/>
          </a:xfrm>
          <a:prstGeom prst="rect">
            <a:avLst/>
          </a:prstGeom>
          <a:noFill/>
        </p:spPr>
        <p:txBody>
          <a:bodyPr wrap="square" lIns="73152" tIns="73152" rIns="73152" bIns="73152" anchor="t">
            <a:spAutoFit/>
          </a:bodyPr>
          <a:lstStyle/>
          <a:p>
            <a:pPr>
              <a:spcAft>
                <a:spcPts val="600"/>
              </a:spcAft>
              <a:defRPr sz="2700" b="1">
                <a:solidFill>
                  <a:srgbClr val="162740"/>
                </a:solidFill>
                <a:latin typeface="Aptos"/>
              </a:defRPr>
            </a:pPr>
            <a:r>
              <a:rPr dirty="0"/>
              <a:t>Question 2: How do prices differ by manufacturer?</a:t>
            </a:r>
          </a:p>
        </p:txBody>
      </p:sp>
      <p:sp>
        <p:nvSpPr>
          <p:cNvPr id="6" name="TextBox 5"/>
          <p:cNvSpPr txBox="1"/>
          <p:nvPr/>
        </p:nvSpPr>
        <p:spPr>
          <a:xfrm>
            <a:off x="11292840" y="6473952"/>
            <a:ext cx="411480" cy="286232"/>
          </a:xfrm>
          <a:prstGeom prst="rect">
            <a:avLst/>
          </a:prstGeom>
          <a:noFill/>
        </p:spPr>
        <p:txBody>
          <a:bodyPr wrap="square" lIns="73152" tIns="73152" rIns="73152" bIns="73152" anchor="t">
            <a:spAutoFit/>
          </a:bodyPr>
          <a:lstStyle/>
          <a:p>
            <a:pPr algn="r">
              <a:spcAft>
                <a:spcPts val="600"/>
              </a:spcAft>
              <a:defRPr sz="900" b="0">
                <a:solidFill>
                  <a:srgbClr val="5E6C7A"/>
                </a:solidFill>
                <a:latin typeface="Aptos"/>
              </a:defRPr>
            </a:pPr>
            <a:r>
              <a:rPr lang="en-US" dirty="0"/>
              <a:t>8</a:t>
            </a:r>
            <a:endParaRPr dirty="0"/>
          </a:p>
        </p:txBody>
      </p:sp>
      <p:sp>
        <p:nvSpPr>
          <p:cNvPr id="27" name="Rectangle 26"/>
          <p:cNvSpPr/>
          <p:nvPr/>
        </p:nvSpPr>
        <p:spPr>
          <a:xfrm>
            <a:off x="8695945" y="2066544"/>
            <a:ext cx="45719" cy="3209544"/>
          </a:xfrm>
          <a:prstGeom prst="rect">
            <a:avLst/>
          </a:prstGeom>
          <a:solidFill>
            <a:srgbClr val="EFB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38360" y="2087233"/>
            <a:ext cx="2453639" cy="3379387"/>
          </a:xfrm>
          <a:prstGeom prst="rect">
            <a:avLst/>
          </a:prstGeom>
          <a:noFill/>
        </p:spPr>
        <p:txBody>
          <a:bodyPr wrap="square" lIns="73152" tIns="73152" rIns="73152" bIns="73152" anchor="t">
            <a:spAutoFit/>
          </a:bodyPr>
          <a:lstStyle/>
          <a:p>
            <a:pPr marL="285750" lvl="0" indent="-285750">
              <a:buFont typeface="Wingdings" panose="05000000000000000000" pitchFamily="2" charset="2"/>
              <a:buChar char="§"/>
            </a:pPr>
            <a:r>
              <a:rPr lang="en-US" sz="1600" dirty="0">
                <a:solidFill>
                  <a:srgbClr val="FF0000"/>
                </a:solidFill>
              </a:rPr>
              <a:t>Jaguar</a:t>
            </a:r>
            <a:r>
              <a:rPr lang="en-US" sz="1600" dirty="0"/>
              <a:t>,</a:t>
            </a:r>
            <a:r>
              <a:rPr lang="en-US" sz="1600" dirty="0">
                <a:solidFill>
                  <a:srgbClr val="FF0000"/>
                </a:solidFill>
              </a:rPr>
              <a:t> Porsche</a:t>
            </a:r>
            <a:r>
              <a:rPr lang="en-US" sz="1600" dirty="0"/>
              <a:t>,</a:t>
            </a:r>
            <a:r>
              <a:rPr lang="en-US" sz="1600" dirty="0">
                <a:solidFill>
                  <a:srgbClr val="FF0000"/>
                </a:solidFill>
              </a:rPr>
              <a:t> Mercedes-Benz</a:t>
            </a:r>
            <a:r>
              <a:rPr lang="en-US" sz="1600" dirty="0"/>
              <a:t>,</a:t>
            </a:r>
            <a:r>
              <a:rPr lang="en-US" sz="1600" dirty="0">
                <a:solidFill>
                  <a:srgbClr val="FF0000"/>
                </a:solidFill>
              </a:rPr>
              <a:t> </a:t>
            </a:r>
            <a:r>
              <a:rPr lang="en-US" sz="1600" dirty="0"/>
              <a:t>and</a:t>
            </a:r>
            <a:r>
              <a:rPr lang="en-US" sz="1600" dirty="0">
                <a:solidFill>
                  <a:srgbClr val="FF0000"/>
                </a:solidFill>
              </a:rPr>
              <a:t> BMW</a:t>
            </a:r>
            <a:r>
              <a:rPr lang="en-US" sz="1600" dirty="0"/>
              <a:t> have </a:t>
            </a:r>
            <a:r>
              <a:rPr lang="en-US" sz="1600" dirty="0">
                <a:solidFill>
                  <a:schemeClr val="accent2"/>
                </a:solidFill>
              </a:rPr>
              <a:t>higher median prices</a:t>
            </a:r>
            <a:r>
              <a:rPr lang="en-US" sz="1600" dirty="0"/>
              <a:t>.</a:t>
            </a:r>
          </a:p>
          <a:p>
            <a:pPr lvl="0"/>
            <a:r>
              <a:rPr lang="en-US" sz="1600" dirty="0"/>
              <a:t> </a:t>
            </a:r>
          </a:p>
          <a:p>
            <a:pPr lvl="0" algn="ctr"/>
            <a:endParaRPr lang="en-US" b="1" dirty="0"/>
          </a:p>
          <a:p>
            <a:pPr lvl="0" algn="ctr"/>
            <a:r>
              <a:rPr lang="en-US" sz="1600" dirty="0"/>
              <a:t> </a:t>
            </a:r>
          </a:p>
          <a:p>
            <a:pPr lvl="0" algn="ctr"/>
            <a:endParaRPr lang="en-US" sz="1600" dirty="0"/>
          </a:p>
          <a:p>
            <a:pPr marL="285750" lvl="0" indent="-285750">
              <a:buFont typeface="Wingdings" panose="05000000000000000000" pitchFamily="2" charset="2"/>
              <a:buChar char="§"/>
            </a:pPr>
            <a:r>
              <a:rPr lang="en-US" sz="1600" dirty="0">
                <a:solidFill>
                  <a:srgbClr val="0070C0"/>
                </a:solidFill>
              </a:rPr>
              <a:t>Chevrolet</a:t>
            </a:r>
            <a:r>
              <a:rPr lang="en-US" sz="1600" dirty="0"/>
              <a:t>, </a:t>
            </a:r>
            <a:r>
              <a:rPr lang="en-US" sz="1600" dirty="0">
                <a:solidFill>
                  <a:srgbClr val="0070C0"/>
                </a:solidFill>
              </a:rPr>
              <a:t>Honda</a:t>
            </a:r>
            <a:r>
              <a:rPr lang="en-US" sz="1600" dirty="0"/>
              <a:t>, </a:t>
            </a:r>
            <a:r>
              <a:rPr lang="en-US" sz="1600" dirty="0">
                <a:solidFill>
                  <a:srgbClr val="0070C0"/>
                </a:solidFill>
              </a:rPr>
              <a:t>Dodge</a:t>
            </a:r>
            <a:r>
              <a:rPr lang="en-US" sz="1600" dirty="0"/>
              <a:t>, and </a:t>
            </a:r>
            <a:r>
              <a:rPr lang="en-US" sz="1600" dirty="0">
                <a:solidFill>
                  <a:srgbClr val="0070C0"/>
                </a:solidFill>
              </a:rPr>
              <a:t>Plymouth</a:t>
            </a:r>
            <a:r>
              <a:rPr lang="en-US" sz="1600" dirty="0"/>
              <a:t> generally have </a:t>
            </a:r>
            <a:r>
              <a:rPr lang="en-US" sz="1600" dirty="0">
                <a:solidFill>
                  <a:srgbClr val="00B0F0"/>
                </a:solidFill>
              </a:rPr>
              <a:t>lower median prices</a:t>
            </a:r>
            <a:r>
              <a:rPr lang="en-US" sz="1600" dirty="0"/>
              <a:t>.</a:t>
            </a:r>
          </a:p>
          <a:p>
            <a:pPr lvl="0"/>
            <a:endParaRPr lang="en-US" sz="1600" dirty="0"/>
          </a:p>
        </p:txBody>
      </p:sp>
      <p:sp>
        <p:nvSpPr>
          <p:cNvPr id="30" name="TextBox 29"/>
          <p:cNvSpPr txBox="1"/>
          <p:nvPr/>
        </p:nvSpPr>
        <p:spPr>
          <a:xfrm>
            <a:off x="594360" y="6473952"/>
            <a:ext cx="5029200" cy="182880"/>
          </a:xfrm>
          <a:prstGeom prst="rect">
            <a:avLst/>
          </a:prstGeom>
          <a:noFill/>
        </p:spPr>
        <p:txBody>
          <a:bodyPr wrap="square" lIns="73152" tIns="73152" rIns="73152" bIns="73152" anchor="t">
            <a:spAutoFit/>
          </a:bodyPr>
          <a:lstStyle/>
          <a:p>
            <a:pPr>
              <a:spcAft>
                <a:spcPts val="600"/>
              </a:spcAft>
              <a:defRPr sz="900" b="0">
                <a:solidFill>
                  <a:srgbClr val="5E6C7A"/>
                </a:solidFill>
                <a:latin typeface="Aptos"/>
              </a:defRPr>
            </a:pPr>
            <a:r>
              <a:t>CMSE 830 • Midterm Project</a:t>
            </a:r>
          </a:p>
        </p:txBody>
      </p:sp>
      <p:pic>
        <p:nvPicPr>
          <p:cNvPr id="8" name="Picture 7">
            <a:extLst>
              <a:ext uri="{FF2B5EF4-FFF2-40B4-BE49-F238E27FC236}">
                <a16:creationId xmlns:a16="http://schemas.microsoft.com/office/drawing/2014/main" id="{EBA37345-3140-26FF-92D3-84AE1EA16506}"/>
              </a:ext>
            </a:extLst>
          </p:cNvPr>
          <p:cNvPicPr>
            <a:picLocks noChangeAspect="1"/>
          </p:cNvPicPr>
          <p:nvPr/>
        </p:nvPicPr>
        <p:blipFill>
          <a:blip r:embed="rId2"/>
          <a:stretch>
            <a:fillRect/>
          </a:stretch>
        </p:blipFill>
        <p:spPr>
          <a:xfrm>
            <a:off x="-1" y="1523129"/>
            <a:ext cx="9738361" cy="5237055"/>
          </a:xfrm>
          <a:prstGeom prst="rect">
            <a:avLst/>
          </a:prstGeom>
        </p:spPr>
      </p:pic>
      <p:sp>
        <p:nvSpPr>
          <p:cNvPr id="11" name="Arrow: Down 10">
            <a:extLst>
              <a:ext uri="{FF2B5EF4-FFF2-40B4-BE49-F238E27FC236}">
                <a16:creationId xmlns:a16="http://schemas.microsoft.com/office/drawing/2014/main" id="{57FC1DC6-7783-3D33-0A42-8385586849FA}"/>
              </a:ext>
            </a:extLst>
          </p:cNvPr>
          <p:cNvSpPr/>
          <p:nvPr/>
        </p:nvSpPr>
        <p:spPr>
          <a:xfrm>
            <a:off x="10117836" y="3367847"/>
            <a:ext cx="1380744" cy="409079"/>
          </a:xfrm>
          <a:prstGeom prst="downArrow">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b="1" dirty="0"/>
              <a:t>while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76D41E-7CF8-EA7B-5035-91A3D2E398AD}"/>
              </a:ext>
            </a:extLst>
          </p:cNvPr>
          <p:cNvPicPr>
            <a:picLocks noChangeAspect="1"/>
          </p:cNvPicPr>
          <p:nvPr/>
        </p:nvPicPr>
        <p:blipFill>
          <a:blip r:embed="rId3"/>
          <a:stretch>
            <a:fillRect/>
          </a:stretch>
        </p:blipFill>
        <p:spPr>
          <a:xfrm>
            <a:off x="551692" y="265170"/>
            <a:ext cx="5163749" cy="3237497"/>
          </a:xfrm>
          <a:prstGeom prst="rect">
            <a:avLst/>
          </a:prstGeom>
        </p:spPr>
      </p:pic>
      <p:sp>
        <p:nvSpPr>
          <p:cNvPr id="5" name="TextBox 4">
            <a:extLst>
              <a:ext uri="{FF2B5EF4-FFF2-40B4-BE49-F238E27FC236}">
                <a16:creationId xmlns:a16="http://schemas.microsoft.com/office/drawing/2014/main" id="{35F6EC1A-4A82-FEC5-9B51-7D186DEE29B6}"/>
              </a:ext>
            </a:extLst>
          </p:cNvPr>
          <p:cNvSpPr txBox="1"/>
          <p:nvPr/>
        </p:nvSpPr>
        <p:spPr>
          <a:xfrm>
            <a:off x="131227" y="50998"/>
            <a:ext cx="3087461" cy="317010"/>
          </a:xfrm>
          <a:prstGeom prst="rect">
            <a:avLst/>
          </a:prstGeom>
          <a:noFill/>
        </p:spPr>
        <p:txBody>
          <a:bodyPr wrap="square" lIns="73152" tIns="73152" rIns="73152" bIns="73152" anchor="t">
            <a:spAutoFit/>
          </a:bodyPr>
          <a:lstStyle/>
          <a:p>
            <a:pPr>
              <a:spcAft>
                <a:spcPts val="600"/>
              </a:spcAft>
              <a:defRPr sz="1000" b="1">
                <a:solidFill>
                  <a:srgbClr val="289994"/>
                </a:solidFill>
                <a:latin typeface="Aptos"/>
              </a:defRPr>
            </a:pPr>
            <a:r>
              <a:rPr lang="en-US" sz="1050" dirty="0"/>
              <a:t>Price distribution by different factors:</a:t>
            </a:r>
            <a:endParaRPr sz="1050" dirty="0"/>
          </a:p>
        </p:txBody>
      </p:sp>
      <p:pic>
        <p:nvPicPr>
          <p:cNvPr id="9" name="Picture 8">
            <a:extLst>
              <a:ext uri="{FF2B5EF4-FFF2-40B4-BE49-F238E27FC236}">
                <a16:creationId xmlns:a16="http://schemas.microsoft.com/office/drawing/2014/main" id="{E1D96C28-59B2-A6ED-6FD1-8F64A7E50FF8}"/>
              </a:ext>
            </a:extLst>
          </p:cNvPr>
          <p:cNvPicPr>
            <a:picLocks noChangeAspect="1"/>
          </p:cNvPicPr>
          <p:nvPr/>
        </p:nvPicPr>
        <p:blipFill>
          <a:blip r:embed="rId4"/>
          <a:stretch>
            <a:fillRect/>
          </a:stretch>
        </p:blipFill>
        <p:spPr>
          <a:xfrm>
            <a:off x="340939" y="3613420"/>
            <a:ext cx="5504686" cy="3244580"/>
          </a:xfrm>
          <a:prstGeom prst="rect">
            <a:avLst/>
          </a:prstGeom>
        </p:spPr>
      </p:pic>
      <p:pic>
        <p:nvPicPr>
          <p:cNvPr id="11" name="Picture 10">
            <a:extLst>
              <a:ext uri="{FF2B5EF4-FFF2-40B4-BE49-F238E27FC236}">
                <a16:creationId xmlns:a16="http://schemas.microsoft.com/office/drawing/2014/main" id="{F8719EF5-F72A-6EA2-1EC7-29ABAD27DFAF}"/>
              </a:ext>
            </a:extLst>
          </p:cNvPr>
          <p:cNvPicPr>
            <a:picLocks noChangeAspect="1"/>
          </p:cNvPicPr>
          <p:nvPr/>
        </p:nvPicPr>
        <p:blipFill>
          <a:blip r:embed="rId5"/>
          <a:stretch>
            <a:fillRect/>
          </a:stretch>
        </p:blipFill>
        <p:spPr>
          <a:xfrm>
            <a:off x="6766561" y="3391912"/>
            <a:ext cx="5425439" cy="3466088"/>
          </a:xfrm>
          <a:prstGeom prst="rect">
            <a:avLst/>
          </a:prstGeom>
        </p:spPr>
      </p:pic>
      <p:pic>
        <p:nvPicPr>
          <p:cNvPr id="15" name="Picture 14">
            <a:extLst>
              <a:ext uri="{FF2B5EF4-FFF2-40B4-BE49-F238E27FC236}">
                <a16:creationId xmlns:a16="http://schemas.microsoft.com/office/drawing/2014/main" id="{1E2BB981-8197-5B81-B5EC-6B34ACC3443A}"/>
              </a:ext>
            </a:extLst>
          </p:cNvPr>
          <p:cNvPicPr>
            <a:picLocks noChangeAspect="1"/>
          </p:cNvPicPr>
          <p:nvPr/>
        </p:nvPicPr>
        <p:blipFill>
          <a:blip r:embed="rId6"/>
          <a:stretch>
            <a:fillRect/>
          </a:stretch>
        </p:blipFill>
        <p:spPr>
          <a:xfrm>
            <a:off x="6476561" y="18852"/>
            <a:ext cx="5836920" cy="3373060"/>
          </a:xfrm>
          <a:prstGeom prst="rect">
            <a:avLst/>
          </a:prstGeom>
        </p:spPr>
      </p:pic>
      <p:sp>
        <p:nvSpPr>
          <p:cNvPr id="23" name="TextBox 22">
            <a:extLst>
              <a:ext uri="{FF2B5EF4-FFF2-40B4-BE49-F238E27FC236}">
                <a16:creationId xmlns:a16="http://schemas.microsoft.com/office/drawing/2014/main" id="{0A677B2A-295A-98A6-6DC9-B86B037C3766}"/>
              </a:ext>
            </a:extLst>
          </p:cNvPr>
          <p:cNvSpPr txBox="1"/>
          <p:nvPr/>
        </p:nvSpPr>
        <p:spPr>
          <a:xfrm>
            <a:off x="491490" y="582180"/>
            <a:ext cx="5354135" cy="276999"/>
          </a:xfrm>
          <a:prstGeom prst="rect">
            <a:avLst/>
          </a:prstGeom>
          <a:noFill/>
        </p:spPr>
        <p:txBody>
          <a:bodyPr wrap="square">
            <a:spAutoFit/>
          </a:bodyPr>
          <a:lstStyle/>
          <a:p>
            <a:r>
              <a:rPr lang="en-US" sz="1200" dirty="0"/>
              <a:t>1. Convertibles have the highest median price, while hatchbacks have the lowest.</a:t>
            </a:r>
          </a:p>
        </p:txBody>
      </p:sp>
    </p:spTree>
    <p:extLst>
      <p:ext uri="{BB962C8B-B14F-4D97-AF65-F5344CB8AC3E}">
        <p14:creationId xmlns:p14="http://schemas.microsoft.com/office/powerpoint/2010/main" val="2414104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heel(1)">
                                      <p:cBhvr>
                                        <p:cTn id="7"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C2F38DF-E813-3C1A-A77E-8BF2DBBC4B38}"/>
              </a:ext>
            </a:extLst>
          </p:cNvPr>
          <p:cNvSpPr txBox="1"/>
          <p:nvPr/>
        </p:nvSpPr>
        <p:spPr>
          <a:xfrm>
            <a:off x="231811" y="91850"/>
            <a:ext cx="10789920" cy="363176"/>
          </a:xfrm>
          <a:prstGeom prst="rect">
            <a:avLst/>
          </a:prstGeom>
          <a:noFill/>
        </p:spPr>
        <p:txBody>
          <a:bodyPr wrap="square" lIns="73152" tIns="73152" rIns="73152" bIns="73152" anchor="t">
            <a:spAutoFit/>
          </a:bodyPr>
          <a:lstStyle/>
          <a:p>
            <a:pPr>
              <a:spcAft>
                <a:spcPts val="600"/>
              </a:spcAft>
              <a:defRPr sz="1000" b="1">
                <a:solidFill>
                  <a:srgbClr val="289994"/>
                </a:solidFill>
                <a:latin typeface="Aptos"/>
              </a:defRPr>
            </a:pPr>
            <a:r>
              <a:rPr sz="1400" dirty="0"/>
              <a:t>03 • EDA VISUALIZATION</a:t>
            </a:r>
          </a:p>
        </p:txBody>
      </p:sp>
      <p:sp>
        <p:nvSpPr>
          <p:cNvPr id="7" name="TextBox 6">
            <a:extLst>
              <a:ext uri="{FF2B5EF4-FFF2-40B4-BE49-F238E27FC236}">
                <a16:creationId xmlns:a16="http://schemas.microsoft.com/office/drawing/2014/main" id="{D0A224AF-CC06-ECB7-654E-FFAB1C60BAD8}"/>
              </a:ext>
            </a:extLst>
          </p:cNvPr>
          <p:cNvSpPr txBox="1"/>
          <p:nvPr/>
        </p:nvSpPr>
        <p:spPr>
          <a:xfrm>
            <a:off x="382088" y="485805"/>
            <a:ext cx="8549640" cy="455509"/>
          </a:xfrm>
          <a:prstGeom prst="rect">
            <a:avLst/>
          </a:prstGeom>
          <a:noFill/>
        </p:spPr>
        <p:txBody>
          <a:bodyPr wrap="square" lIns="73152" tIns="73152" rIns="73152" bIns="73152" anchor="t">
            <a:spAutoFit/>
          </a:bodyPr>
          <a:lstStyle/>
          <a:p>
            <a:pPr>
              <a:spcAft>
                <a:spcPts val="600"/>
              </a:spcAft>
              <a:defRPr sz="2700" b="1">
                <a:solidFill>
                  <a:srgbClr val="162740"/>
                </a:solidFill>
                <a:latin typeface="Aptos"/>
              </a:defRPr>
            </a:pPr>
            <a:r>
              <a:rPr lang="en-US" sz="2000" dirty="0"/>
              <a:t>Automobile Prices by Engine and Vehicle Characteristics</a:t>
            </a:r>
            <a:endParaRPr sz="2000" dirty="0"/>
          </a:p>
        </p:txBody>
      </p:sp>
      <p:pic>
        <p:nvPicPr>
          <p:cNvPr id="11" name="Picture 10">
            <a:extLst>
              <a:ext uri="{FF2B5EF4-FFF2-40B4-BE49-F238E27FC236}">
                <a16:creationId xmlns:a16="http://schemas.microsoft.com/office/drawing/2014/main" id="{C16910C3-6100-4EBE-A79F-BE3373C773E7}"/>
              </a:ext>
            </a:extLst>
          </p:cNvPr>
          <p:cNvPicPr>
            <a:picLocks noChangeAspect="1"/>
          </p:cNvPicPr>
          <p:nvPr/>
        </p:nvPicPr>
        <p:blipFill>
          <a:blip r:embed="rId2"/>
          <a:stretch>
            <a:fillRect/>
          </a:stretch>
        </p:blipFill>
        <p:spPr>
          <a:xfrm>
            <a:off x="128016" y="1106846"/>
            <a:ext cx="8803713" cy="5751154"/>
          </a:xfrm>
          <a:prstGeom prst="rect">
            <a:avLst/>
          </a:prstGeom>
        </p:spPr>
      </p:pic>
      <p:sp>
        <p:nvSpPr>
          <p:cNvPr id="13" name="TextBox 12">
            <a:extLst>
              <a:ext uri="{FF2B5EF4-FFF2-40B4-BE49-F238E27FC236}">
                <a16:creationId xmlns:a16="http://schemas.microsoft.com/office/drawing/2014/main" id="{EAF0EEFB-EDC2-BEBC-18B4-446CE4BBE92F}"/>
              </a:ext>
            </a:extLst>
          </p:cNvPr>
          <p:cNvSpPr txBox="1"/>
          <p:nvPr/>
        </p:nvSpPr>
        <p:spPr>
          <a:xfrm>
            <a:off x="9082005" y="951753"/>
            <a:ext cx="3129643" cy="2308324"/>
          </a:xfrm>
          <a:prstGeom prst="rect">
            <a:avLst/>
          </a:prstGeom>
          <a:noFill/>
        </p:spPr>
        <p:txBody>
          <a:bodyPr wrap="square">
            <a:spAutoFit/>
          </a:bodyPr>
          <a:lstStyle/>
          <a:p>
            <a:pPr marL="342900" lvl="0" indent="-342900">
              <a:buFont typeface="Wingdings" panose="05000000000000000000" pitchFamily="2" charset="2"/>
              <a:buChar char="q"/>
            </a:pPr>
            <a:r>
              <a:rPr lang="en-US" dirty="0"/>
              <a:t>Vehicle prices vary across engine and fuel system categories.</a:t>
            </a:r>
          </a:p>
          <a:p>
            <a:pPr marL="342900" lvl="0" indent="-342900">
              <a:buFont typeface="Wingdings" panose="05000000000000000000" pitchFamily="2" charset="2"/>
              <a:buChar char="q"/>
            </a:pPr>
            <a:endParaRPr lang="en-US" dirty="0"/>
          </a:p>
          <a:p>
            <a:pPr marL="342900" lvl="0" indent="-342900">
              <a:buFont typeface="Wingdings" panose="05000000000000000000" pitchFamily="2" charset="2"/>
              <a:buChar char="q"/>
            </a:pPr>
            <a:endParaRPr lang="en-US" dirty="0"/>
          </a:p>
          <a:p>
            <a:pPr marL="342900" lvl="0" indent="-342900">
              <a:buFont typeface="Wingdings" panose="05000000000000000000" pitchFamily="2" charset="2"/>
              <a:buChar char="q"/>
            </a:pPr>
            <a:r>
              <a:rPr lang="en-US" dirty="0"/>
              <a:t>Small sample sizes and other factors limit these comparisons.</a:t>
            </a:r>
          </a:p>
        </p:txBody>
      </p:sp>
      <p:sp>
        <p:nvSpPr>
          <p:cNvPr id="15" name="Rectangle 14">
            <a:extLst>
              <a:ext uri="{FF2B5EF4-FFF2-40B4-BE49-F238E27FC236}">
                <a16:creationId xmlns:a16="http://schemas.microsoft.com/office/drawing/2014/main" id="{60A8E247-FE8F-7934-571A-38A319F59E9E}"/>
              </a:ext>
            </a:extLst>
          </p:cNvPr>
          <p:cNvSpPr/>
          <p:nvPr/>
        </p:nvSpPr>
        <p:spPr>
          <a:xfrm>
            <a:off x="0" y="0"/>
            <a:ext cx="12191695" cy="118872"/>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81DA4E8B-EBA3-D650-1854-0B6709F17FDB}"/>
              </a:ext>
            </a:extLst>
          </p:cNvPr>
          <p:cNvSpPr txBox="1"/>
          <p:nvPr/>
        </p:nvSpPr>
        <p:spPr>
          <a:xfrm>
            <a:off x="9205709" y="3627009"/>
            <a:ext cx="2882233" cy="3139321"/>
          </a:xfrm>
          <a:prstGeom prst="rect">
            <a:avLst/>
          </a:prstGeom>
          <a:noFill/>
          <a:ln>
            <a:solidFill>
              <a:schemeClr val="tx2"/>
            </a:solidFill>
          </a:ln>
        </p:spPr>
        <p:txBody>
          <a:bodyPr wrap="square">
            <a:spAutoFit/>
          </a:bodyPr>
          <a:lstStyle/>
          <a:p>
            <a:pPr marL="171450" indent="-171450">
              <a:buFont typeface="Wingdings" panose="05000000000000000000" pitchFamily="2" charset="2"/>
              <a:buChar char="Ø"/>
            </a:pPr>
            <a:r>
              <a:rPr lang="en-US" sz="1100" b="1" dirty="0"/>
              <a:t>Engine types</a:t>
            </a:r>
            <a:r>
              <a:rPr lang="en-US" sz="1100" dirty="0"/>
              <a:t>:</a:t>
            </a:r>
          </a:p>
          <a:p>
            <a:pPr>
              <a:buNone/>
            </a:pPr>
            <a:r>
              <a:rPr lang="en-US" sz="1100" dirty="0"/>
              <a:t>•</a:t>
            </a:r>
            <a:r>
              <a:rPr lang="en-US" sz="1100" b="1" dirty="0" err="1"/>
              <a:t>ohc</a:t>
            </a:r>
            <a:r>
              <a:rPr lang="en-US" sz="1100" dirty="0"/>
              <a:t> (Overhead Camshaft)</a:t>
            </a:r>
          </a:p>
          <a:p>
            <a:pPr>
              <a:buNone/>
            </a:pPr>
            <a:r>
              <a:rPr lang="en-US" sz="1100" dirty="0"/>
              <a:t>•</a:t>
            </a:r>
            <a:r>
              <a:rPr lang="en-US" sz="1100" b="1" dirty="0" err="1">
                <a:solidFill>
                  <a:srgbClr val="00B0F0"/>
                </a:solidFill>
              </a:rPr>
              <a:t>ohcf</a:t>
            </a:r>
            <a:r>
              <a:rPr lang="en-US" sz="1100" dirty="0">
                <a:solidFill>
                  <a:srgbClr val="00B0F0"/>
                </a:solidFill>
              </a:rPr>
              <a:t> (Overhead Camshaft Flat)</a:t>
            </a:r>
          </a:p>
          <a:p>
            <a:pPr>
              <a:buNone/>
            </a:pPr>
            <a:r>
              <a:rPr lang="en-US" sz="1100" dirty="0"/>
              <a:t>•</a:t>
            </a:r>
            <a:r>
              <a:rPr lang="en-US" sz="1100" b="1" dirty="0"/>
              <a:t>rotor</a:t>
            </a:r>
            <a:r>
              <a:rPr lang="en-US" sz="1100" dirty="0"/>
              <a:t> (Rotary engine)</a:t>
            </a:r>
          </a:p>
          <a:p>
            <a:pPr>
              <a:buNone/>
            </a:pPr>
            <a:r>
              <a:rPr lang="en-US" sz="1100" dirty="0"/>
              <a:t>•</a:t>
            </a:r>
            <a:r>
              <a:rPr lang="en-US" sz="1100" b="1" dirty="0"/>
              <a:t>l</a:t>
            </a:r>
            <a:r>
              <a:rPr lang="en-US" sz="1100" dirty="0"/>
              <a:t> (L-head / </a:t>
            </a:r>
            <a:r>
              <a:rPr lang="en-US" sz="1100" dirty="0" err="1"/>
              <a:t>Sidevalve</a:t>
            </a:r>
            <a:r>
              <a:rPr lang="en-US" sz="1100" dirty="0"/>
              <a:t>)</a:t>
            </a:r>
          </a:p>
          <a:p>
            <a:pPr>
              <a:buNone/>
            </a:pPr>
            <a:r>
              <a:rPr lang="en-US" sz="1100" dirty="0"/>
              <a:t>•</a:t>
            </a:r>
            <a:r>
              <a:rPr lang="en-US" sz="1100" b="1" dirty="0" err="1"/>
              <a:t>dohc</a:t>
            </a:r>
            <a:r>
              <a:rPr lang="en-US" sz="1100" dirty="0"/>
              <a:t> (Double Overhead Camshaft)</a:t>
            </a:r>
          </a:p>
          <a:p>
            <a:pPr>
              <a:buNone/>
            </a:pPr>
            <a:r>
              <a:rPr lang="en-US" sz="1100" dirty="0"/>
              <a:t>•</a:t>
            </a:r>
            <a:r>
              <a:rPr lang="en-US" sz="1100" b="1" dirty="0" err="1">
                <a:solidFill>
                  <a:srgbClr val="FF0000"/>
                </a:solidFill>
              </a:rPr>
              <a:t>ohcv</a:t>
            </a:r>
            <a:r>
              <a:rPr lang="en-US" sz="1100" dirty="0">
                <a:solidFill>
                  <a:srgbClr val="FF0000"/>
                </a:solidFill>
              </a:rPr>
              <a:t> (Overhead Valve V-engine)</a:t>
            </a:r>
          </a:p>
          <a:p>
            <a:pPr>
              <a:buNone/>
            </a:pPr>
            <a:endParaRPr lang="en-US" sz="1100" b="1" dirty="0"/>
          </a:p>
          <a:p>
            <a:pPr>
              <a:buNone/>
            </a:pPr>
            <a:endParaRPr lang="en-US" sz="1100" b="1" dirty="0"/>
          </a:p>
          <a:p>
            <a:pPr marL="171450" indent="-171450">
              <a:buFont typeface="Wingdings" panose="05000000000000000000" pitchFamily="2" charset="2"/>
              <a:buChar char="Ø"/>
            </a:pPr>
            <a:r>
              <a:rPr lang="en-US" sz="1100" b="1" dirty="0"/>
              <a:t>Fuel Systems</a:t>
            </a:r>
            <a:endParaRPr lang="en-US" sz="1100" dirty="0"/>
          </a:p>
          <a:p>
            <a:pPr>
              <a:buNone/>
            </a:pPr>
            <a:r>
              <a:rPr lang="en-US" sz="1100" dirty="0">
                <a:solidFill>
                  <a:srgbClr val="00B0F0"/>
                </a:solidFill>
              </a:rPr>
              <a:t>•</a:t>
            </a:r>
            <a:r>
              <a:rPr lang="en-US" sz="1100" b="1" dirty="0">
                <a:solidFill>
                  <a:srgbClr val="00B0F0"/>
                </a:solidFill>
              </a:rPr>
              <a:t>1bbl</a:t>
            </a:r>
            <a:r>
              <a:rPr lang="en-US" sz="1100" dirty="0">
                <a:solidFill>
                  <a:srgbClr val="00B0F0"/>
                </a:solidFill>
              </a:rPr>
              <a:t> (Single-barrel carburetor)</a:t>
            </a:r>
          </a:p>
          <a:p>
            <a:pPr>
              <a:buNone/>
            </a:pPr>
            <a:r>
              <a:rPr lang="en-US" sz="1100" dirty="0">
                <a:solidFill>
                  <a:srgbClr val="00B0F0"/>
                </a:solidFill>
              </a:rPr>
              <a:t>•</a:t>
            </a:r>
            <a:r>
              <a:rPr lang="en-US" sz="1100" b="1" dirty="0">
                <a:solidFill>
                  <a:srgbClr val="00B0F0"/>
                </a:solidFill>
              </a:rPr>
              <a:t>2bbl</a:t>
            </a:r>
            <a:r>
              <a:rPr lang="en-US" sz="1100" dirty="0">
                <a:solidFill>
                  <a:srgbClr val="00B0F0"/>
                </a:solidFill>
              </a:rPr>
              <a:t> (Two-barrel carburetor)</a:t>
            </a:r>
          </a:p>
          <a:p>
            <a:pPr>
              <a:buNone/>
            </a:pPr>
            <a:r>
              <a:rPr lang="en-US" sz="1100" dirty="0"/>
              <a:t>•</a:t>
            </a:r>
            <a:r>
              <a:rPr lang="en-US" sz="1100" b="1" dirty="0" err="1"/>
              <a:t>spdi</a:t>
            </a:r>
            <a:r>
              <a:rPr lang="en-US" sz="1100" dirty="0"/>
              <a:t> (Stratified Charge Direct Injection)</a:t>
            </a:r>
          </a:p>
          <a:p>
            <a:pPr>
              <a:buNone/>
            </a:pPr>
            <a:r>
              <a:rPr lang="en-US" sz="1100" dirty="0"/>
              <a:t>•</a:t>
            </a:r>
            <a:r>
              <a:rPr lang="en-US" sz="1100" b="1" dirty="0" err="1"/>
              <a:t>spfi</a:t>
            </a:r>
            <a:r>
              <a:rPr lang="en-US" sz="1100" dirty="0"/>
              <a:t> (Sequential Single-Point Fuel Injection)</a:t>
            </a:r>
          </a:p>
          <a:p>
            <a:pPr>
              <a:buNone/>
            </a:pPr>
            <a:r>
              <a:rPr lang="en-US" sz="1100" dirty="0"/>
              <a:t>•</a:t>
            </a:r>
            <a:r>
              <a:rPr lang="en-US" sz="1100" b="1" dirty="0"/>
              <a:t>4bbl</a:t>
            </a:r>
            <a:r>
              <a:rPr lang="en-US" sz="1100" dirty="0"/>
              <a:t> (Four-barrel carburetor)</a:t>
            </a:r>
          </a:p>
          <a:p>
            <a:pPr>
              <a:buNone/>
            </a:pPr>
            <a:r>
              <a:rPr lang="en-US" sz="1100" dirty="0"/>
              <a:t>•</a:t>
            </a:r>
            <a:r>
              <a:rPr lang="en-US" sz="1100" b="1" dirty="0" err="1"/>
              <a:t>mfi</a:t>
            </a:r>
            <a:r>
              <a:rPr lang="en-US" sz="1100" dirty="0"/>
              <a:t> (Multipoint Fuel Injection)</a:t>
            </a:r>
          </a:p>
          <a:p>
            <a:pPr>
              <a:buNone/>
            </a:pPr>
            <a:r>
              <a:rPr lang="en-US" sz="1100" dirty="0"/>
              <a:t>•</a:t>
            </a:r>
            <a:r>
              <a:rPr lang="en-US" sz="1100" b="1" dirty="0" err="1">
                <a:solidFill>
                  <a:srgbClr val="FF0000"/>
                </a:solidFill>
              </a:rPr>
              <a:t>idi</a:t>
            </a:r>
            <a:r>
              <a:rPr lang="en-US" sz="1100" dirty="0">
                <a:solidFill>
                  <a:srgbClr val="FF0000"/>
                </a:solidFill>
              </a:rPr>
              <a:t> (Indirect Injection diesel)</a:t>
            </a:r>
          </a:p>
          <a:p>
            <a:pPr>
              <a:buNone/>
            </a:pPr>
            <a:r>
              <a:rPr lang="en-US" sz="1100" dirty="0"/>
              <a:t>•</a:t>
            </a:r>
            <a:r>
              <a:rPr lang="en-US" sz="1100" b="1" dirty="0" err="1">
                <a:solidFill>
                  <a:srgbClr val="FF0000"/>
                </a:solidFill>
              </a:rPr>
              <a:t>mpfi</a:t>
            </a:r>
            <a:r>
              <a:rPr lang="en-US" sz="1100" dirty="0">
                <a:solidFill>
                  <a:srgbClr val="FF0000"/>
                </a:solidFill>
              </a:rPr>
              <a:t> (Multi-Point Fuel Injection)</a:t>
            </a:r>
          </a:p>
        </p:txBody>
      </p:sp>
    </p:spTree>
    <p:extLst>
      <p:ext uri="{BB962C8B-B14F-4D97-AF65-F5344CB8AC3E}">
        <p14:creationId xmlns:p14="http://schemas.microsoft.com/office/powerpoint/2010/main" val="1226280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B810E7-2192-3E52-78D4-B134B8D20831}"/>
              </a:ext>
            </a:extLst>
          </p:cNvPr>
          <p:cNvPicPr>
            <a:picLocks noChangeAspect="1"/>
          </p:cNvPicPr>
          <p:nvPr/>
        </p:nvPicPr>
        <p:blipFill>
          <a:blip r:embed="rId3"/>
          <a:stretch>
            <a:fillRect/>
          </a:stretch>
        </p:blipFill>
        <p:spPr>
          <a:xfrm>
            <a:off x="689719" y="577654"/>
            <a:ext cx="11281682" cy="6260714"/>
          </a:xfrm>
          <a:prstGeom prst="rect">
            <a:avLst/>
          </a:prstGeom>
        </p:spPr>
      </p:pic>
      <p:sp>
        <p:nvSpPr>
          <p:cNvPr id="5" name="TextBox 4">
            <a:extLst>
              <a:ext uri="{FF2B5EF4-FFF2-40B4-BE49-F238E27FC236}">
                <a16:creationId xmlns:a16="http://schemas.microsoft.com/office/drawing/2014/main" id="{AC8E8A97-6CF5-0EE4-38E3-F6C3B2F3D53B}"/>
              </a:ext>
            </a:extLst>
          </p:cNvPr>
          <p:cNvSpPr txBox="1"/>
          <p:nvPr/>
        </p:nvSpPr>
        <p:spPr>
          <a:xfrm>
            <a:off x="3580366" y="85695"/>
            <a:ext cx="6098720" cy="338554"/>
          </a:xfrm>
          <a:prstGeom prst="rect">
            <a:avLst/>
          </a:prstGeom>
          <a:noFill/>
        </p:spPr>
        <p:txBody>
          <a:bodyPr wrap="square">
            <a:spAutoFit/>
          </a:bodyPr>
          <a:lstStyle/>
          <a:p>
            <a:pPr marL="0" marR="0" indent="0" algn="l">
              <a:spcBef>
                <a:spcPts val="907"/>
              </a:spcBef>
              <a:spcAft>
                <a:spcPts val="1210"/>
              </a:spcAft>
              <a:buNone/>
            </a:pPr>
            <a:r>
              <a:rPr lang="en-US" sz="1600" b="0" i="0" dirty="0">
                <a:effectLst/>
                <a:latin typeface="+mn-lt"/>
              </a:rPr>
              <a:t>Relationships Between Price and Other Numeric Characteristics</a:t>
            </a:r>
            <a:endParaRPr lang="en-US" sz="1400" b="0" i="0" dirty="0">
              <a:effectLst/>
              <a:latin typeface="system-ui"/>
            </a:endParaRPr>
          </a:p>
        </p:txBody>
      </p:sp>
      <p:sp>
        <p:nvSpPr>
          <p:cNvPr id="7" name="TextBox 6">
            <a:extLst>
              <a:ext uri="{FF2B5EF4-FFF2-40B4-BE49-F238E27FC236}">
                <a16:creationId xmlns:a16="http://schemas.microsoft.com/office/drawing/2014/main" id="{64B490BC-578C-0091-1AC2-6DC8CEC100E9}"/>
              </a:ext>
            </a:extLst>
          </p:cNvPr>
          <p:cNvSpPr txBox="1"/>
          <p:nvPr/>
        </p:nvSpPr>
        <p:spPr>
          <a:xfrm>
            <a:off x="231811" y="91850"/>
            <a:ext cx="3050885" cy="332399"/>
          </a:xfrm>
          <a:prstGeom prst="rect">
            <a:avLst/>
          </a:prstGeom>
          <a:noFill/>
        </p:spPr>
        <p:txBody>
          <a:bodyPr wrap="square" lIns="73152" tIns="73152" rIns="73152" bIns="73152" anchor="t">
            <a:spAutoFit/>
          </a:bodyPr>
          <a:lstStyle/>
          <a:p>
            <a:pPr>
              <a:spcAft>
                <a:spcPts val="600"/>
              </a:spcAft>
              <a:defRPr sz="1000" b="1">
                <a:solidFill>
                  <a:srgbClr val="289994"/>
                </a:solidFill>
                <a:latin typeface="Aptos"/>
              </a:defRPr>
            </a:pPr>
            <a:r>
              <a:rPr sz="1200" dirty="0"/>
              <a:t>03 • EDA VISUALIZATION</a:t>
            </a:r>
          </a:p>
        </p:txBody>
      </p:sp>
      <p:sp>
        <p:nvSpPr>
          <p:cNvPr id="9" name="Rectangle 8">
            <a:extLst>
              <a:ext uri="{FF2B5EF4-FFF2-40B4-BE49-F238E27FC236}">
                <a16:creationId xmlns:a16="http://schemas.microsoft.com/office/drawing/2014/main" id="{68A02549-4A29-BF81-3FFE-9C2B25F45F81}"/>
              </a:ext>
            </a:extLst>
          </p:cNvPr>
          <p:cNvSpPr/>
          <p:nvPr/>
        </p:nvSpPr>
        <p:spPr>
          <a:xfrm>
            <a:off x="0" y="0"/>
            <a:ext cx="12191695" cy="45719"/>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849186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9E0D2A-5B2D-C60C-97A1-D917F572AD62}"/>
              </a:ext>
            </a:extLst>
          </p:cNvPr>
          <p:cNvPicPr>
            <a:picLocks noChangeAspect="1"/>
          </p:cNvPicPr>
          <p:nvPr/>
        </p:nvPicPr>
        <p:blipFill>
          <a:blip r:embed="rId2"/>
          <a:stretch>
            <a:fillRect/>
          </a:stretch>
        </p:blipFill>
        <p:spPr>
          <a:xfrm>
            <a:off x="4212771" y="752623"/>
            <a:ext cx="7723416" cy="6063474"/>
          </a:xfrm>
          <a:prstGeom prst="rect">
            <a:avLst/>
          </a:prstGeom>
        </p:spPr>
      </p:pic>
      <p:sp>
        <p:nvSpPr>
          <p:cNvPr id="5" name="TextBox 4">
            <a:extLst>
              <a:ext uri="{FF2B5EF4-FFF2-40B4-BE49-F238E27FC236}">
                <a16:creationId xmlns:a16="http://schemas.microsoft.com/office/drawing/2014/main" id="{E1881DAB-54DD-BACA-2ACE-E64F2CE11F3F}"/>
              </a:ext>
            </a:extLst>
          </p:cNvPr>
          <p:cNvSpPr txBox="1"/>
          <p:nvPr/>
        </p:nvSpPr>
        <p:spPr>
          <a:xfrm>
            <a:off x="4894489" y="278359"/>
            <a:ext cx="6098720" cy="325025"/>
          </a:xfrm>
          <a:prstGeom prst="rect">
            <a:avLst/>
          </a:prstGeom>
          <a:noFill/>
        </p:spPr>
        <p:txBody>
          <a:bodyPr wrap="square">
            <a:spAutoFit/>
          </a:bodyPr>
          <a:lstStyle/>
          <a:p>
            <a:pPr marL="0" marR="0" indent="0" algn="l">
              <a:spcBef>
                <a:spcPts val="907"/>
              </a:spcBef>
              <a:spcAft>
                <a:spcPts val="1210"/>
              </a:spcAft>
              <a:buNone/>
            </a:pPr>
            <a:r>
              <a:rPr lang="en-US" sz="1800" b="0" i="0" dirty="0">
                <a:effectLst/>
                <a:latin typeface="+mn-lt"/>
              </a:rPr>
              <a:t>Relationships Among Numeric Predictors</a:t>
            </a:r>
            <a:endParaRPr lang="en-US" sz="1512" b="0" i="0" dirty="0">
              <a:effectLst/>
              <a:latin typeface="system-ui"/>
            </a:endParaRPr>
          </a:p>
        </p:txBody>
      </p:sp>
      <p:sp>
        <p:nvSpPr>
          <p:cNvPr id="7" name="TextBox 6">
            <a:extLst>
              <a:ext uri="{FF2B5EF4-FFF2-40B4-BE49-F238E27FC236}">
                <a16:creationId xmlns:a16="http://schemas.microsoft.com/office/drawing/2014/main" id="{166277AF-51D2-772A-0B63-5A643CD78F97}"/>
              </a:ext>
            </a:extLst>
          </p:cNvPr>
          <p:cNvSpPr txBox="1"/>
          <p:nvPr/>
        </p:nvSpPr>
        <p:spPr>
          <a:xfrm>
            <a:off x="231811" y="91850"/>
            <a:ext cx="3650307" cy="393954"/>
          </a:xfrm>
          <a:prstGeom prst="rect">
            <a:avLst/>
          </a:prstGeom>
          <a:noFill/>
        </p:spPr>
        <p:txBody>
          <a:bodyPr wrap="square" lIns="73152" tIns="73152" rIns="73152" bIns="73152" anchor="t">
            <a:spAutoFit/>
          </a:bodyPr>
          <a:lstStyle/>
          <a:p>
            <a:pPr>
              <a:spcAft>
                <a:spcPts val="600"/>
              </a:spcAft>
              <a:defRPr sz="1000" b="1">
                <a:solidFill>
                  <a:srgbClr val="289994"/>
                </a:solidFill>
                <a:latin typeface="Aptos"/>
              </a:defRPr>
            </a:pPr>
            <a:r>
              <a:rPr sz="1600" dirty="0"/>
              <a:t>03 • EDA VISUALIZATION</a:t>
            </a:r>
          </a:p>
        </p:txBody>
      </p:sp>
      <p:sp>
        <p:nvSpPr>
          <p:cNvPr id="9" name="TextBox 8">
            <a:extLst>
              <a:ext uri="{FF2B5EF4-FFF2-40B4-BE49-F238E27FC236}">
                <a16:creationId xmlns:a16="http://schemas.microsoft.com/office/drawing/2014/main" id="{476A5608-B8DE-58CF-3768-55118617A78A}"/>
              </a:ext>
            </a:extLst>
          </p:cNvPr>
          <p:cNvSpPr txBox="1"/>
          <p:nvPr/>
        </p:nvSpPr>
        <p:spPr>
          <a:xfrm>
            <a:off x="255813" y="2136338"/>
            <a:ext cx="3956958" cy="2585323"/>
          </a:xfrm>
          <a:prstGeom prst="rect">
            <a:avLst/>
          </a:prstGeom>
          <a:noFill/>
        </p:spPr>
        <p:txBody>
          <a:bodyPr wrap="square">
            <a:spAutoFit/>
          </a:bodyPr>
          <a:lstStyle/>
          <a:p>
            <a:pPr marL="285750" indent="-285750">
              <a:buFont typeface="Wingdings" panose="05000000000000000000" pitchFamily="2" charset="2"/>
              <a:buChar char="v"/>
            </a:pPr>
            <a:r>
              <a:rPr lang="en-US" dirty="0"/>
              <a:t>The correlation matrix shows the strength and direction of relationships between vehicle characteristics and price. </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solidFill>
                  <a:srgbClr val="FF0000"/>
                </a:solidFill>
              </a:rPr>
              <a:t>Red</a:t>
            </a:r>
            <a:r>
              <a:rPr lang="en-US" dirty="0"/>
              <a:t> indicates </a:t>
            </a:r>
            <a:r>
              <a:rPr lang="en-US" dirty="0">
                <a:solidFill>
                  <a:srgbClr val="FF0000"/>
                </a:solidFill>
              </a:rPr>
              <a:t>positive</a:t>
            </a:r>
            <a:r>
              <a:rPr lang="en-US" dirty="0"/>
              <a:t> correlation, </a:t>
            </a:r>
            <a:r>
              <a:rPr lang="en-US" dirty="0">
                <a:solidFill>
                  <a:srgbClr val="00B0F0"/>
                </a:solidFill>
              </a:rPr>
              <a:t>blue</a:t>
            </a:r>
            <a:r>
              <a:rPr lang="en-US" dirty="0"/>
              <a:t> indicates </a:t>
            </a:r>
            <a:r>
              <a:rPr lang="en-US" dirty="0">
                <a:solidFill>
                  <a:srgbClr val="00B0F0"/>
                </a:solidFill>
              </a:rPr>
              <a:t>negative</a:t>
            </a:r>
            <a:r>
              <a:rPr lang="en-US" dirty="0"/>
              <a:t> correlation, and lighter colors indicate weaker relationships.</a:t>
            </a:r>
          </a:p>
        </p:txBody>
      </p:sp>
      <p:sp>
        <p:nvSpPr>
          <p:cNvPr id="11" name="Rectangle 10">
            <a:extLst>
              <a:ext uri="{FF2B5EF4-FFF2-40B4-BE49-F238E27FC236}">
                <a16:creationId xmlns:a16="http://schemas.microsoft.com/office/drawing/2014/main" id="{F6CE9F6D-502A-5C27-162F-56E56D3BD7E9}"/>
              </a:ext>
            </a:extLst>
          </p:cNvPr>
          <p:cNvSpPr/>
          <p:nvPr/>
        </p:nvSpPr>
        <p:spPr>
          <a:xfrm>
            <a:off x="0" y="0"/>
            <a:ext cx="12191695" cy="118872"/>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497745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C52ADEA-A3D7-2068-AD21-F1712146BAC0}"/>
              </a:ext>
            </a:extLst>
          </p:cNvPr>
          <p:cNvPicPr>
            <a:picLocks noChangeAspect="1"/>
          </p:cNvPicPr>
          <p:nvPr/>
        </p:nvPicPr>
        <p:blipFill>
          <a:blip r:embed="rId3"/>
          <a:stretch>
            <a:fillRect/>
          </a:stretch>
        </p:blipFill>
        <p:spPr>
          <a:xfrm>
            <a:off x="6096000" y="146958"/>
            <a:ext cx="5864189" cy="6470332"/>
          </a:xfrm>
          <a:prstGeom prst="rect">
            <a:avLst/>
          </a:prstGeom>
        </p:spPr>
      </p:pic>
      <p:sp>
        <p:nvSpPr>
          <p:cNvPr id="13" name="TextBox 12">
            <a:extLst>
              <a:ext uri="{FF2B5EF4-FFF2-40B4-BE49-F238E27FC236}">
                <a16:creationId xmlns:a16="http://schemas.microsoft.com/office/drawing/2014/main" id="{E5A65536-A702-673F-AF68-EB9B6476770A}"/>
              </a:ext>
            </a:extLst>
          </p:cNvPr>
          <p:cNvSpPr txBox="1"/>
          <p:nvPr/>
        </p:nvSpPr>
        <p:spPr>
          <a:xfrm>
            <a:off x="231811" y="851458"/>
            <a:ext cx="6098720" cy="325025"/>
          </a:xfrm>
          <a:prstGeom prst="rect">
            <a:avLst/>
          </a:prstGeom>
          <a:noFill/>
        </p:spPr>
        <p:txBody>
          <a:bodyPr wrap="square">
            <a:spAutoFit/>
          </a:bodyPr>
          <a:lstStyle/>
          <a:p>
            <a:pPr marL="0" marR="0" indent="0" algn="l">
              <a:spcBef>
                <a:spcPts val="907"/>
              </a:spcBef>
              <a:spcAft>
                <a:spcPts val="1210"/>
              </a:spcAft>
              <a:buNone/>
            </a:pPr>
            <a:r>
              <a:rPr lang="en-US" sz="1800" b="0" i="0" dirty="0">
                <a:effectLst/>
                <a:latin typeface="+mn-lt"/>
              </a:rPr>
              <a:t>Numeric imputation evaluation with a held-out test set</a:t>
            </a:r>
            <a:endParaRPr lang="en-US" sz="1512" b="0" i="0" dirty="0">
              <a:effectLst/>
              <a:latin typeface="system-ui"/>
            </a:endParaRPr>
          </a:p>
        </p:txBody>
      </p:sp>
      <p:sp>
        <p:nvSpPr>
          <p:cNvPr id="15" name="TextBox 14">
            <a:extLst>
              <a:ext uri="{FF2B5EF4-FFF2-40B4-BE49-F238E27FC236}">
                <a16:creationId xmlns:a16="http://schemas.microsoft.com/office/drawing/2014/main" id="{6BEBA8EE-CF9A-1471-1EE6-D284BDAE2EDC}"/>
              </a:ext>
            </a:extLst>
          </p:cNvPr>
          <p:cNvSpPr txBox="1"/>
          <p:nvPr/>
        </p:nvSpPr>
        <p:spPr>
          <a:xfrm>
            <a:off x="396648" y="2676737"/>
            <a:ext cx="5299985" cy="2031325"/>
          </a:xfrm>
          <a:prstGeom prst="rect">
            <a:avLst/>
          </a:prstGeom>
          <a:noFill/>
        </p:spPr>
        <p:txBody>
          <a:bodyPr wrap="square">
            <a:spAutoFit/>
          </a:bodyPr>
          <a:lstStyle/>
          <a:p>
            <a:pPr marL="342900" lvl="0" indent="-342900">
              <a:buFont typeface="Wingdings" panose="05000000000000000000" pitchFamily="2" charset="2"/>
              <a:buChar char="q"/>
            </a:pPr>
            <a:r>
              <a:rPr lang="en-US" dirty="0"/>
              <a:t>K-Nearest Neighbors (KNN)  worked best for most variables, while Bayesian Ridge worked best for horsepower.</a:t>
            </a:r>
          </a:p>
          <a:p>
            <a:pPr marL="342900" lvl="0" indent="-342900">
              <a:buFont typeface="Wingdings" panose="05000000000000000000" pitchFamily="2" charset="2"/>
              <a:buChar char="q"/>
            </a:pPr>
            <a:endParaRPr lang="en-US" dirty="0"/>
          </a:p>
          <a:p>
            <a:pPr marL="342900" lvl="0" indent="-342900">
              <a:buFont typeface="Wingdings" panose="05000000000000000000" pitchFamily="2" charset="2"/>
              <a:buChar char="q"/>
            </a:pPr>
            <a:endParaRPr lang="en-US" dirty="0"/>
          </a:p>
          <a:p>
            <a:pPr marL="342900" lvl="0" indent="-342900">
              <a:buFont typeface="Wingdings" panose="05000000000000000000" pitchFamily="2" charset="2"/>
              <a:buChar char="q"/>
            </a:pPr>
            <a:endParaRPr lang="en-US" dirty="0"/>
          </a:p>
          <a:p>
            <a:pPr marL="342900" lvl="0" indent="-342900">
              <a:buFont typeface="Wingdings" panose="05000000000000000000" pitchFamily="2" charset="2"/>
              <a:buChar char="q"/>
            </a:pPr>
            <a:r>
              <a:rPr lang="en-US" dirty="0"/>
              <a:t>No single method worked best for all variables.</a:t>
            </a:r>
          </a:p>
        </p:txBody>
      </p:sp>
      <p:sp>
        <p:nvSpPr>
          <p:cNvPr id="17" name="Rectangle 16">
            <a:extLst>
              <a:ext uri="{FF2B5EF4-FFF2-40B4-BE49-F238E27FC236}">
                <a16:creationId xmlns:a16="http://schemas.microsoft.com/office/drawing/2014/main" id="{A19A9801-FD1D-BC3F-DAEA-46402A1B0606}"/>
              </a:ext>
            </a:extLst>
          </p:cNvPr>
          <p:cNvSpPr/>
          <p:nvPr/>
        </p:nvSpPr>
        <p:spPr>
          <a:xfrm>
            <a:off x="0" y="0"/>
            <a:ext cx="12191695" cy="118872"/>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67B1068A-9CB0-CEB2-B6D1-2D013F2C1F64}"/>
              </a:ext>
            </a:extLst>
          </p:cNvPr>
          <p:cNvSpPr txBox="1"/>
          <p:nvPr/>
        </p:nvSpPr>
        <p:spPr>
          <a:xfrm>
            <a:off x="231811" y="91850"/>
            <a:ext cx="10789920" cy="363176"/>
          </a:xfrm>
          <a:prstGeom prst="rect">
            <a:avLst/>
          </a:prstGeom>
          <a:noFill/>
        </p:spPr>
        <p:txBody>
          <a:bodyPr wrap="square" lIns="73152" tIns="73152" rIns="73152" bIns="73152" anchor="t">
            <a:spAutoFit/>
          </a:bodyPr>
          <a:lstStyle/>
          <a:p>
            <a:pPr>
              <a:spcAft>
                <a:spcPts val="600"/>
              </a:spcAft>
              <a:defRPr sz="1000" b="1">
                <a:solidFill>
                  <a:srgbClr val="289994"/>
                </a:solidFill>
                <a:latin typeface="Aptos"/>
              </a:defRPr>
            </a:pPr>
            <a:r>
              <a:rPr sz="1400" dirty="0"/>
              <a:t>0</a:t>
            </a:r>
            <a:r>
              <a:rPr lang="en-US" sz="1400" dirty="0"/>
              <a:t>4</a:t>
            </a:r>
            <a:r>
              <a:rPr sz="1400" dirty="0"/>
              <a:t> • </a:t>
            </a:r>
            <a:r>
              <a:rPr lang="en-US" sz="1400" dirty="0"/>
              <a:t>Imputation</a:t>
            </a:r>
            <a:endParaRPr sz="1400" dirty="0"/>
          </a:p>
        </p:txBody>
      </p:sp>
    </p:spTree>
    <p:extLst>
      <p:ext uri="{BB962C8B-B14F-4D97-AF65-F5344CB8AC3E}">
        <p14:creationId xmlns:p14="http://schemas.microsoft.com/office/powerpoint/2010/main" val="4214468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F703C0-6B04-A1B3-B9D3-A0C16A302029}"/>
              </a:ext>
            </a:extLst>
          </p:cNvPr>
          <p:cNvSpPr txBox="1"/>
          <p:nvPr/>
        </p:nvSpPr>
        <p:spPr>
          <a:xfrm>
            <a:off x="816430" y="1104325"/>
            <a:ext cx="10335984" cy="2500685"/>
          </a:xfrm>
          <a:prstGeom prst="rect">
            <a:avLst/>
          </a:prstGeom>
          <a:noFill/>
        </p:spPr>
        <p:txBody>
          <a:bodyPr wrap="square">
            <a:spAutoFit/>
          </a:bodyPr>
          <a:lstStyle/>
          <a:p>
            <a:pPr marL="285750" marR="0" indent="-285750" algn="l">
              <a:spcBef>
                <a:spcPts val="1089"/>
              </a:spcBef>
              <a:spcAft>
                <a:spcPts val="1451"/>
              </a:spcAft>
              <a:buFont typeface="Wingdings" panose="05000000000000000000" pitchFamily="2" charset="2"/>
              <a:buChar char="q"/>
            </a:pPr>
            <a:r>
              <a:rPr lang="en-US" sz="1800" b="1" i="0" dirty="0">
                <a:effectLst/>
                <a:latin typeface="+mn-lt"/>
              </a:rPr>
              <a:t> Conclusion:</a:t>
            </a:r>
          </a:p>
          <a:p>
            <a:pPr lvl="0"/>
            <a:r>
              <a:rPr lang="en-US" dirty="0"/>
              <a:t>1. Engine size had the strongest relationship with car prices (r = 0.872).</a:t>
            </a:r>
          </a:p>
          <a:p>
            <a:pPr lvl="0"/>
            <a:endParaRPr lang="en-US" dirty="0"/>
          </a:p>
          <a:p>
            <a:pPr lvl="0"/>
            <a:r>
              <a:rPr lang="en-US" dirty="0"/>
              <a:t>2. Weight and horsepower were also strongly related to price.</a:t>
            </a:r>
          </a:p>
          <a:p>
            <a:pPr lvl="0"/>
            <a:endParaRPr lang="en-US" dirty="0"/>
          </a:p>
          <a:p>
            <a:pPr lvl="0"/>
            <a:r>
              <a:rPr lang="en-US" dirty="0"/>
              <a:t>3. KNN worked best for most missing values, while </a:t>
            </a:r>
            <a:r>
              <a:rPr lang="en-US" dirty="0" err="1"/>
              <a:t>BayesianRidge</a:t>
            </a:r>
            <a:r>
              <a:rPr lang="en-US" dirty="0"/>
              <a:t> worked best for horsepower.</a:t>
            </a:r>
          </a:p>
          <a:p>
            <a:pPr lvl="0"/>
            <a:endParaRPr lang="en-US" dirty="0"/>
          </a:p>
          <a:p>
            <a:pPr lvl="0"/>
            <a:r>
              <a:rPr lang="en-US" dirty="0"/>
              <a:t>4. The dataset is small and old, so results may not apply to today’s car market.</a:t>
            </a:r>
          </a:p>
        </p:txBody>
      </p:sp>
      <p:sp>
        <p:nvSpPr>
          <p:cNvPr id="5" name="TextBox 4">
            <a:extLst>
              <a:ext uri="{FF2B5EF4-FFF2-40B4-BE49-F238E27FC236}">
                <a16:creationId xmlns:a16="http://schemas.microsoft.com/office/drawing/2014/main" id="{2B668AB8-4CC0-0614-9380-E3A26373D264}"/>
              </a:ext>
            </a:extLst>
          </p:cNvPr>
          <p:cNvSpPr txBox="1"/>
          <p:nvPr/>
        </p:nvSpPr>
        <p:spPr>
          <a:xfrm>
            <a:off x="685800" y="363093"/>
            <a:ext cx="10789920" cy="717119"/>
          </a:xfrm>
          <a:prstGeom prst="rect">
            <a:avLst/>
          </a:prstGeom>
          <a:noFill/>
        </p:spPr>
        <p:txBody>
          <a:bodyPr wrap="square" lIns="73152" tIns="73152" rIns="73152" bIns="73152" anchor="t">
            <a:spAutoFit/>
          </a:bodyPr>
          <a:lstStyle/>
          <a:p>
            <a:pPr>
              <a:spcAft>
                <a:spcPts val="600"/>
              </a:spcAft>
              <a:defRPr sz="1000" b="1">
                <a:solidFill>
                  <a:srgbClr val="289994"/>
                </a:solidFill>
                <a:latin typeface="Aptos"/>
              </a:defRPr>
            </a:pPr>
            <a:r>
              <a:rPr lang="en-US" sz="1600" dirty="0"/>
              <a:t>05 • </a:t>
            </a:r>
            <a:r>
              <a:rPr lang="en-US" sz="1600" b="1" dirty="0"/>
              <a:t>Findings &amp; Limitations</a:t>
            </a:r>
          </a:p>
          <a:p>
            <a:pPr>
              <a:spcAft>
                <a:spcPts val="600"/>
              </a:spcAft>
              <a:defRPr sz="1000" b="1">
                <a:solidFill>
                  <a:srgbClr val="289994"/>
                </a:solidFill>
                <a:latin typeface="Aptos"/>
              </a:defRPr>
            </a:pPr>
            <a:r>
              <a:rPr sz="1600" dirty="0">
                <a:solidFill>
                  <a:srgbClr val="FF0000"/>
                </a:solidFill>
              </a:rPr>
              <a:t> </a:t>
            </a:r>
          </a:p>
        </p:txBody>
      </p:sp>
      <p:sp>
        <p:nvSpPr>
          <p:cNvPr id="7" name="TextBox 6">
            <a:extLst>
              <a:ext uri="{FF2B5EF4-FFF2-40B4-BE49-F238E27FC236}">
                <a16:creationId xmlns:a16="http://schemas.microsoft.com/office/drawing/2014/main" id="{0EAA7697-A2D2-6B58-1EB6-F1030E482469}"/>
              </a:ext>
            </a:extLst>
          </p:cNvPr>
          <p:cNvSpPr txBox="1"/>
          <p:nvPr/>
        </p:nvSpPr>
        <p:spPr>
          <a:xfrm>
            <a:off x="1024618" y="4561553"/>
            <a:ext cx="8462282" cy="1754326"/>
          </a:xfrm>
          <a:prstGeom prst="rect">
            <a:avLst/>
          </a:prstGeom>
          <a:noFill/>
        </p:spPr>
        <p:txBody>
          <a:bodyPr wrap="square">
            <a:spAutoFit/>
          </a:bodyPr>
          <a:lstStyle/>
          <a:p>
            <a:pPr marL="285750" indent="-285750">
              <a:buFont typeface="Wingdings" panose="05000000000000000000" pitchFamily="2" charset="2"/>
              <a:buChar char="q"/>
            </a:pPr>
            <a:r>
              <a:rPr lang="en-US" b="1" dirty="0"/>
              <a:t>Limitations:</a:t>
            </a:r>
          </a:p>
          <a:p>
            <a:pPr>
              <a:buNone/>
            </a:pPr>
            <a:endParaRPr lang="en-US" b="1" dirty="0"/>
          </a:p>
          <a:p>
            <a:pPr marL="342900" lvl="0" indent="-342900">
              <a:buFont typeface="+mj-lt"/>
              <a:buAutoNum type="arabicPeriod"/>
            </a:pPr>
            <a:r>
              <a:rPr lang="en-US" b="1" dirty="0"/>
              <a:t>Old, small dataset: </a:t>
            </a:r>
            <a:r>
              <a:rPr lang="en-US" dirty="0"/>
              <a:t>Only 205 cars from the 1980s.</a:t>
            </a:r>
          </a:p>
          <a:p>
            <a:pPr marL="342900" lvl="0" indent="-342900">
              <a:buFont typeface="+mj-lt"/>
              <a:buAutoNum type="arabicPeriod"/>
            </a:pPr>
            <a:r>
              <a:rPr lang="en-US" b="1" dirty="0"/>
              <a:t>Missing values</a:t>
            </a:r>
            <a:r>
              <a:rPr lang="en-US" dirty="0"/>
              <a:t>: Estimates may not match actual values.</a:t>
            </a:r>
          </a:p>
          <a:p>
            <a:pPr marL="342900" lvl="0" indent="-342900">
              <a:buFont typeface="+mj-lt"/>
              <a:buAutoNum type="arabicPeriod"/>
            </a:pPr>
            <a:r>
              <a:rPr lang="en-US" b="1" dirty="0"/>
              <a:t>Unequal groups</a:t>
            </a:r>
            <a:r>
              <a:rPr lang="en-US" dirty="0"/>
              <a:t>: Some categories have very few cars.</a:t>
            </a:r>
          </a:p>
          <a:p>
            <a:pPr marL="342900" lvl="0" indent="-342900">
              <a:buFont typeface="+mj-lt"/>
              <a:buAutoNum type="arabicPeriod"/>
            </a:pPr>
            <a:r>
              <a:rPr lang="en-US" b="1" dirty="0"/>
              <a:t>Missing factors: </a:t>
            </a:r>
            <a:r>
              <a:rPr lang="en-US" dirty="0"/>
              <a:t>Mileage and car condition are unavailable.</a:t>
            </a:r>
          </a:p>
        </p:txBody>
      </p:sp>
      <p:sp>
        <p:nvSpPr>
          <p:cNvPr id="9" name="Rectangle 8">
            <a:extLst>
              <a:ext uri="{FF2B5EF4-FFF2-40B4-BE49-F238E27FC236}">
                <a16:creationId xmlns:a16="http://schemas.microsoft.com/office/drawing/2014/main" id="{04336954-9EDE-399C-CE15-27BD2DB29C55}"/>
              </a:ext>
            </a:extLst>
          </p:cNvPr>
          <p:cNvSpPr/>
          <p:nvPr/>
        </p:nvSpPr>
        <p:spPr>
          <a:xfrm>
            <a:off x="0" y="0"/>
            <a:ext cx="12191695" cy="118872"/>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30C34153-C094-3B69-1D5C-3949B9E09889}"/>
              </a:ext>
            </a:extLst>
          </p:cNvPr>
          <p:cNvSpPr txBox="1"/>
          <p:nvPr/>
        </p:nvSpPr>
        <p:spPr>
          <a:xfrm>
            <a:off x="11292840" y="6473952"/>
            <a:ext cx="411480" cy="286232"/>
          </a:xfrm>
          <a:prstGeom prst="rect">
            <a:avLst/>
          </a:prstGeom>
          <a:noFill/>
        </p:spPr>
        <p:txBody>
          <a:bodyPr wrap="square" lIns="73152" tIns="73152" rIns="73152" bIns="73152" anchor="t">
            <a:spAutoFit/>
          </a:bodyPr>
          <a:lstStyle/>
          <a:p>
            <a:pPr algn="r">
              <a:spcAft>
                <a:spcPts val="600"/>
              </a:spcAft>
              <a:defRPr sz="900" b="0">
                <a:solidFill>
                  <a:srgbClr val="5E6C7A"/>
                </a:solidFill>
                <a:latin typeface="Aptos"/>
              </a:defRPr>
            </a:pPr>
            <a:r>
              <a:rPr lang="en-US" dirty="0"/>
              <a:t>14</a:t>
            </a:r>
            <a:endParaRPr dirty="0"/>
          </a:p>
        </p:txBody>
      </p:sp>
    </p:spTree>
    <p:extLst>
      <p:ext uri="{BB962C8B-B14F-4D97-AF65-F5344CB8AC3E}">
        <p14:creationId xmlns:p14="http://schemas.microsoft.com/office/powerpoint/2010/main" val="925849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789920" cy="393954"/>
          </a:xfrm>
          <a:prstGeom prst="rect">
            <a:avLst/>
          </a:prstGeom>
          <a:noFill/>
        </p:spPr>
        <p:txBody>
          <a:bodyPr wrap="square" lIns="73152" tIns="73152" rIns="73152" bIns="73152" anchor="t">
            <a:spAutoFit/>
          </a:bodyPr>
          <a:lstStyle/>
          <a:p>
            <a:pPr>
              <a:spcAft>
                <a:spcPts val="600"/>
              </a:spcAft>
              <a:defRPr sz="1000" b="1">
                <a:solidFill>
                  <a:srgbClr val="289994"/>
                </a:solidFill>
                <a:latin typeface="Aptos"/>
              </a:defRPr>
            </a:pPr>
            <a:r>
              <a:rPr sz="1600" dirty="0"/>
              <a:t>0</a:t>
            </a:r>
            <a:r>
              <a:rPr lang="en-US" sz="1600" dirty="0"/>
              <a:t>6</a:t>
            </a:r>
            <a:r>
              <a:rPr sz="1600" dirty="0"/>
              <a:t> • INTERACTIVE DATA PRODUCT</a:t>
            </a:r>
          </a:p>
        </p:txBody>
      </p:sp>
      <p:sp>
        <p:nvSpPr>
          <p:cNvPr id="6" name="TextBox 5"/>
          <p:cNvSpPr txBox="1"/>
          <p:nvPr/>
        </p:nvSpPr>
        <p:spPr>
          <a:xfrm>
            <a:off x="11292840" y="6473952"/>
            <a:ext cx="411480" cy="201168"/>
          </a:xfrm>
          <a:prstGeom prst="rect">
            <a:avLst/>
          </a:prstGeom>
          <a:noFill/>
        </p:spPr>
        <p:txBody>
          <a:bodyPr wrap="square" lIns="73152" tIns="73152" rIns="73152" bIns="73152" anchor="t">
            <a:spAutoFit/>
          </a:bodyPr>
          <a:lstStyle/>
          <a:p>
            <a:pPr algn="r">
              <a:spcAft>
                <a:spcPts val="600"/>
              </a:spcAft>
              <a:defRPr sz="900" b="0">
                <a:solidFill>
                  <a:srgbClr val="5E6C7A"/>
                </a:solidFill>
                <a:latin typeface="Aptos"/>
              </a:defRPr>
            </a:pPr>
            <a:r>
              <a:t>6</a:t>
            </a:r>
          </a:p>
        </p:txBody>
      </p:sp>
      <p:sp>
        <p:nvSpPr>
          <p:cNvPr id="29" name="TextBox 28"/>
          <p:cNvSpPr txBox="1"/>
          <p:nvPr/>
        </p:nvSpPr>
        <p:spPr>
          <a:xfrm>
            <a:off x="594360" y="6473952"/>
            <a:ext cx="5029200" cy="182880"/>
          </a:xfrm>
          <a:prstGeom prst="rect">
            <a:avLst/>
          </a:prstGeom>
          <a:noFill/>
        </p:spPr>
        <p:txBody>
          <a:bodyPr wrap="square" lIns="73152" tIns="73152" rIns="73152" bIns="73152" anchor="t">
            <a:spAutoFit/>
          </a:bodyPr>
          <a:lstStyle/>
          <a:p>
            <a:pPr>
              <a:spcAft>
                <a:spcPts val="600"/>
              </a:spcAft>
              <a:defRPr sz="900" b="0">
                <a:solidFill>
                  <a:srgbClr val="5E6C7A"/>
                </a:solidFill>
                <a:latin typeface="Aptos"/>
              </a:defRPr>
            </a:pPr>
            <a:r>
              <a:t>CMSE 830 • Midterm Project</a:t>
            </a:r>
          </a:p>
        </p:txBody>
      </p:sp>
      <p:sp>
        <p:nvSpPr>
          <p:cNvPr id="14" name="TextBox 13">
            <a:extLst>
              <a:ext uri="{FF2B5EF4-FFF2-40B4-BE49-F238E27FC236}">
                <a16:creationId xmlns:a16="http://schemas.microsoft.com/office/drawing/2014/main" id="{30B997DE-CCB1-5FBA-E7E8-401D7C59B297}"/>
              </a:ext>
            </a:extLst>
          </p:cNvPr>
          <p:cNvSpPr txBox="1"/>
          <p:nvPr/>
        </p:nvSpPr>
        <p:spPr>
          <a:xfrm>
            <a:off x="5506810" y="258752"/>
            <a:ext cx="6560003" cy="461665"/>
          </a:xfrm>
          <a:prstGeom prst="rect">
            <a:avLst/>
          </a:prstGeom>
          <a:noFill/>
        </p:spPr>
        <p:txBody>
          <a:bodyPr wrap="square">
            <a:spAutoFit/>
          </a:bodyPr>
          <a:lstStyle/>
          <a:p>
            <a:r>
              <a:rPr lang="en-US" sz="2400" dirty="0"/>
              <a:t>http://localhost:8504/</a:t>
            </a:r>
          </a:p>
        </p:txBody>
      </p:sp>
      <p:pic>
        <p:nvPicPr>
          <p:cNvPr id="18" name="Picture 17">
            <a:extLst>
              <a:ext uri="{FF2B5EF4-FFF2-40B4-BE49-F238E27FC236}">
                <a16:creationId xmlns:a16="http://schemas.microsoft.com/office/drawing/2014/main" id="{0B37513B-BD4E-B915-8941-E869F9CEA757}"/>
              </a:ext>
            </a:extLst>
          </p:cNvPr>
          <p:cNvPicPr>
            <a:picLocks noChangeAspect="1"/>
          </p:cNvPicPr>
          <p:nvPr/>
        </p:nvPicPr>
        <p:blipFill>
          <a:blip r:embed="rId2"/>
          <a:stretch>
            <a:fillRect/>
          </a:stretch>
        </p:blipFill>
        <p:spPr>
          <a:xfrm>
            <a:off x="0" y="894153"/>
            <a:ext cx="12192000" cy="60416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62740"/>
        </a:solidFill>
        <a:effectLst/>
      </p:bgPr>
    </p:bg>
    <p:spTree>
      <p:nvGrpSpPr>
        <p:cNvPr id="1" name=""/>
        <p:cNvGrpSpPr/>
        <p:nvPr/>
      </p:nvGrpSpPr>
      <p:grpSpPr>
        <a:xfrm>
          <a:off x="0" y="0"/>
          <a:ext cx="0" cy="0"/>
          <a:chOff x="0" y="0"/>
          <a:chExt cx="0" cy="0"/>
        </a:xfrm>
      </p:grpSpPr>
      <p:sp>
        <p:nvSpPr>
          <p:cNvPr id="16" name="TextBox 15"/>
          <p:cNvSpPr txBox="1"/>
          <p:nvPr/>
        </p:nvSpPr>
        <p:spPr>
          <a:xfrm>
            <a:off x="3201924" y="1682496"/>
            <a:ext cx="5084064" cy="763286"/>
          </a:xfrm>
          <a:prstGeom prst="rect">
            <a:avLst/>
          </a:prstGeom>
          <a:noFill/>
        </p:spPr>
        <p:txBody>
          <a:bodyPr wrap="square" lIns="73152" tIns="73152" rIns="73152" bIns="73152" anchor="t">
            <a:spAutoFit/>
          </a:bodyPr>
          <a:lstStyle/>
          <a:p>
            <a:pPr algn="ctr">
              <a:spcAft>
                <a:spcPts val="600"/>
              </a:spcAft>
              <a:defRPr sz="2500" b="1">
                <a:solidFill>
                  <a:srgbClr val="FFFFFF"/>
                </a:solidFill>
                <a:latin typeface="Aptos"/>
              </a:defRPr>
            </a:pPr>
            <a:r>
              <a:rPr sz="4000" dirty="0"/>
              <a:t>Thank you</a:t>
            </a:r>
            <a:r>
              <a:rPr lang="en-US" sz="4000" dirty="0"/>
              <a:t>!</a:t>
            </a:r>
            <a:r>
              <a:rPr sz="4000" dirty="0"/>
              <a:t> </a:t>
            </a:r>
            <a:endParaRPr lang="en-US" sz="4000" dirty="0"/>
          </a:p>
        </p:txBody>
      </p:sp>
      <p:sp>
        <p:nvSpPr>
          <p:cNvPr id="19" name="TextBox 18">
            <a:extLst>
              <a:ext uri="{FF2B5EF4-FFF2-40B4-BE49-F238E27FC236}">
                <a16:creationId xmlns:a16="http://schemas.microsoft.com/office/drawing/2014/main" id="{37F34E30-2F2A-774B-1A85-CC13F578F84F}"/>
              </a:ext>
            </a:extLst>
          </p:cNvPr>
          <p:cNvSpPr txBox="1"/>
          <p:nvPr/>
        </p:nvSpPr>
        <p:spPr>
          <a:xfrm>
            <a:off x="3834384" y="3578358"/>
            <a:ext cx="5236464" cy="640175"/>
          </a:xfrm>
          <a:prstGeom prst="rect">
            <a:avLst/>
          </a:prstGeom>
          <a:noFill/>
        </p:spPr>
        <p:txBody>
          <a:bodyPr wrap="square" lIns="73152" tIns="73152" rIns="73152" bIns="73152" anchor="t">
            <a:spAutoFit/>
          </a:bodyPr>
          <a:lstStyle/>
          <a:p>
            <a:pPr>
              <a:spcAft>
                <a:spcPts val="600"/>
              </a:spcAft>
              <a:defRPr sz="2500" b="1">
                <a:solidFill>
                  <a:srgbClr val="FFFFFF"/>
                </a:solidFill>
                <a:latin typeface="Aptos"/>
              </a:defRPr>
            </a:pPr>
            <a:r>
              <a:rPr sz="3200" dirty="0"/>
              <a:t>Questions</a:t>
            </a:r>
            <a:r>
              <a:rPr lang="en-US" sz="3200" dirty="0"/>
              <a:t> &amp; comments</a:t>
            </a:r>
            <a:r>
              <a:rPr sz="3200" dirty="0"/>
              <a:t>?</a:t>
            </a:r>
          </a:p>
        </p:txBody>
      </p:sp>
      <p:sp>
        <p:nvSpPr>
          <p:cNvPr id="3" name="Rectangle 2">
            <a:extLst>
              <a:ext uri="{FF2B5EF4-FFF2-40B4-BE49-F238E27FC236}">
                <a16:creationId xmlns:a16="http://schemas.microsoft.com/office/drawing/2014/main" id="{B2AA3C6A-472B-9BED-6AB0-5148D74D47DB}"/>
              </a:ext>
            </a:extLst>
          </p:cNvPr>
          <p:cNvSpPr/>
          <p:nvPr/>
        </p:nvSpPr>
        <p:spPr>
          <a:xfrm>
            <a:off x="0" y="0"/>
            <a:ext cx="12191695" cy="118872"/>
          </a:xfrm>
          <a:prstGeom prst="rect">
            <a:avLst/>
          </a:prstGeom>
          <a:solidFill>
            <a:srgbClr val="289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747</TotalTime>
  <Words>1044</Words>
  <Application>Microsoft Office PowerPoint</Application>
  <PresentationFormat>Widescreen</PresentationFormat>
  <Paragraphs>162</Paragraphs>
  <Slides>16</Slides>
  <Notes>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system-ui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Masoud moradi</dc:creator>
  <cp:keywords/>
  <dc:description>generated using python-pptx</dc:description>
  <cp:lastModifiedBy>Masoud moradi</cp:lastModifiedBy>
  <cp:revision>5</cp:revision>
  <dcterms:created xsi:type="dcterms:W3CDTF">2013-01-27T09:14:16Z</dcterms:created>
  <dcterms:modified xsi:type="dcterms:W3CDTF">2026-10-22T02:37:12Z</dcterms:modified>
  <cp:category/>
</cp:coreProperties>
</file>