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3429000" cy="6858000"/>
          </a:xfrm>
          <a:prstGeom prst="rect">
            <a:avLst/>
          </a:prstGeom>
          <a:solidFill>
            <a:srgbClr val="30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18320" y="0"/>
            <a:ext cx="2770632" cy="6858000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822960"/>
            <a:ext cx="75895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FB03D"/>
                </a:solidFill>
                <a:latin typeface="Aptos"/>
              </a:defRPr>
            </a:pPr>
            <a:r>
              <a:t>CMSE 830 • MIDTERM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7680960" cy="133267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Project: </a:t>
            </a:r>
            <a:r>
              <a:rPr dirty="0"/>
              <a:t>Used-Car Price</a:t>
            </a:r>
          </a:p>
          <a:p>
            <a:pPr>
              <a:spcAft>
                <a:spcPts val="600"/>
              </a:spcAft>
              <a:defRPr sz="3600" b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722376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DDEAF5"/>
                </a:solidFill>
                <a:latin typeface="Aptos"/>
              </a:defRPr>
            </a:pPr>
            <a:r>
              <a:t>What factors are associated with used-car prices?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71323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An interactive data exploration app for people shopping for a used 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6858000" cy="31701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rPr b="1" dirty="0"/>
              <a:t>Presenter</a:t>
            </a:r>
            <a:r>
              <a:rPr dirty="0"/>
              <a:t>: </a:t>
            </a:r>
            <a:r>
              <a:rPr lang="en-US" dirty="0"/>
              <a:t> Masoud Moradi</a:t>
            </a:r>
            <a:r>
              <a:rPr dirty="0"/>
              <a:t>    </a:t>
            </a:r>
            <a:r>
              <a:rPr b="1" dirty="0"/>
              <a:t>Date</a:t>
            </a:r>
            <a:r>
              <a:rPr dirty="0"/>
              <a:t>: </a:t>
            </a:r>
            <a:r>
              <a:rPr lang="en-US" dirty="0"/>
              <a:t>10/15/2026</a:t>
            </a:r>
            <a:endParaRPr dirty="0"/>
          </a:p>
        </p:txBody>
      </p:sp>
      <p:pic>
        <p:nvPicPr>
          <p:cNvPr id="13" name="Picture 12" descr="Stilo Veiculos — Carros seminovos, 0km e blindados em São Bernardo Do Campo/SP">
            <a:extLst>
              <a:ext uri="{FF2B5EF4-FFF2-40B4-BE49-F238E27FC236}">
                <a16:creationId xmlns:a16="http://schemas.microsoft.com/office/drawing/2014/main" id="{4C0D33B3-618B-50B8-C8A0-6249FE690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989" y="4901184"/>
            <a:ext cx="3505963" cy="19568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89994"/>
                </a:solidFill>
                <a:latin typeface="Aptos"/>
              </a:defRPr>
            </a:pPr>
            <a:r>
              <a:rPr sz="1600" dirty="0"/>
              <a:t>01 • PROBLEM, AUDIENCE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31520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62740"/>
                </a:solidFill>
                <a:latin typeface="Aptos"/>
              </a:defRPr>
            </a:pPr>
            <a:r>
              <a:rPr dirty="0"/>
              <a:t>Helping buyers explore price differences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32461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3246120"/>
          </a:xfrm>
          <a:prstGeom prst="rect">
            <a:avLst/>
          </a:prstGeom>
          <a:solidFill>
            <a:srgbClr val="30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312724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lang="en-US" dirty="0"/>
              <a:t>1. </a:t>
            </a:r>
            <a:r>
              <a:rPr dirty="0"/>
              <a:t>The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95728"/>
            <a:ext cx="3108960" cy="119417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700" b="0">
                <a:solidFill>
                  <a:srgbClr val="27313D"/>
                </a:solidFill>
                <a:latin typeface="Aptos"/>
              </a:defRPr>
            </a:pPr>
            <a:r>
              <a:rPr dirty="0"/>
              <a:t>People who are considering buying a used car and want to compare vehicle characteristics.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32461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73152" cy="3246120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93392"/>
            <a:ext cx="312724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lang="en-US" dirty="0"/>
              <a:t>2. </a:t>
            </a:r>
            <a:r>
              <a:rPr dirty="0"/>
              <a:t>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95728"/>
            <a:ext cx="3108960" cy="25877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• Does horsepower relate to price?</a:t>
            </a:r>
          </a:p>
          <a:p>
            <a:pPr>
              <a:spcAft>
                <a:spcPts val="6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• Do larger engines tend to cost more?</a:t>
            </a:r>
          </a:p>
          <a:p>
            <a:pPr>
              <a:spcAft>
                <a:spcPts val="600"/>
              </a:spcAft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• How do prices differ by manufacturer?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32461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3246120"/>
          </a:xfrm>
          <a:prstGeom prst="rect">
            <a:avLst/>
          </a:prstGeom>
          <a:solidFill>
            <a:srgbClr val="EFB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12724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lang="en-US" dirty="0"/>
              <a:t>3. </a:t>
            </a:r>
            <a:r>
              <a:rPr dirty="0"/>
              <a:t>Candidate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95728"/>
            <a:ext cx="3108960" cy="160967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UCI Automobile dataset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lang="en-US" dirty="0"/>
              <a:t>- </a:t>
            </a:r>
            <a:r>
              <a:rPr dirty="0"/>
              <a:t>205 observations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lang="en-US" dirty="0"/>
              <a:t>- </a:t>
            </a:r>
            <a:r>
              <a:rPr dirty="0"/>
              <a:t>25 variables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One row represents one automobile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107899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E6C7A"/>
                </a:solidFill>
                <a:latin typeface="Aptos"/>
              </a:defRPr>
            </a:pPr>
            <a:r>
              <a:t>Source: UCI Machine Learning Repository — https://uci-ics-mlr-prod.aws.uci.edu/dataset/10/automobile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CMSE 830 • Midterm Project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3A16E8D-13A7-DE5C-22D8-194A5620E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831" y="4692439"/>
            <a:ext cx="4245864" cy="21655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89994"/>
                </a:solidFill>
                <a:latin typeface="Aptos"/>
              </a:defRPr>
            </a:pPr>
            <a:r>
              <a:rPr sz="1600" dirty="0"/>
              <a:t>02 •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097280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62740"/>
                </a:solidFill>
                <a:latin typeface="Aptos"/>
              </a:defRPr>
            </a:pPr>
            <a:r>
              <a:rPr dirty="0"/>
              <a:t>Make the data ready to explore</a:t>
            </a:r>
            <a:r>
              <a:rPr lang="en-US" dirty="0"/>
              <a:t> (</a:t>
            </a:r>
            <a:r>
              <a:rPr lang="en-US" sz="2000" dirty="0"/>
              <a:t>Initial Data Analysis</a:t>
            </a:r>
            <a:r>
              <a:rPr lang="en-US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34747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3474720"/>
          </a:xfrm>
          <a:prstGeom prst="rect">
            <a:avLst/>
          </a:prstGeom>
          <a:solidFill>
            <a:srgbClr val="30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17296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lang="en-US" dirty="0"/>
              <a:t>1. </a:t>
            </a:r>
            <a:r>
              <a:rPr dirty="0"/>
              <a:t>Numerical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3154680" cy="250222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Price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Horsepower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Engine size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Curb weight, MPG, length and width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Use numeric summaries and distributions.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34747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73152" cy="3474720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7296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lang="en-US" dirty="0"/>
              <a:t>2. </a:t>
            </a:r>
            <a:r>
              <a:rPr dirty="0"/>
              <a:t>Categorical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0008"/>
            <a:ext cx="3154680" cy="250222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Manufacturer (make)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Body style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Fuel type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Drive wheels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 b="0">
                <a:solidFill>
                  <a:srgbClr val="27313D"/>
                </a:solidFill>
                <a:latin typeface="Aptos"/>
              </a:defRPr>
            </a:pPr>
            <a:r>
              <a:rPr dirty="0"/>
              <a:t>Check category spelling and group sizes; encode if a model requires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34747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73152" cy="3474720"/>
          </a:xfrm>
          <a:prstGeom prst="rect">
            <a:avLst/>
          </a:prstGeom>
          <a:solidFill>
            <a:srgbClr val="EFB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17296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lang="en-US" dirty="0"/>
              <a:t>3 .</a:t>
            </a:r>
            <a:r>
              <a:rPr dirty="0"/>
              <a:t>Quality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0008"/>
            <a:ext cx="3154680" cy="222522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dirty="0"/>
              <a:t>Inspect data types and dimensions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dirty="0"/>
              <a:t>Count missing values in price and horsepower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dirty="0"/>
              <a:t> Check unusual values and duplicates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dirty="0"/>
              <a:t> Confirm how dropped rows affect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CMSE 830 • Midterm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89994"/>
                </a:solidFill>
                <a:latin typeface="Aptos"/>
              </a:defRPr>
            </a:pPr>
            <a:r>
              <a:rPr sz="1600" dirty="0"/>
              <a:t>03 • EDA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609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62740"/>
                </a:solidFill>
                <a:latin typeface="Aptos"/>
              </a:defRPr>
            </a:pPr>
            <a:r>
              <a:rPr dirty="0"/>
              <a:t>Question 1: Is horsepower related to price?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5516982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E6C7A"/>
                </a:solidFill>
                <a:latin typeface="Aptos"/>
              </a:defRPr>
            </a:pPr>
            <a:r>
              <a:rPr lang="en-US" dirty="0"/>
              <a:t>I used a</a:t>
            </a:r>
            <a:r>
              <a:rPr dirty="0"/>
              <a:t> scatter plot because both variables are quantitative.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99236" y="1920240"/>
            <a:ext cx="2803378" cy="3694176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94080" y="2054733"/>
            <a:ext cx="105156" cy="3363492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9924" y="2054733"/>
            <a:ext cx="303580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dirty="0"/>
              <a:t>What to look for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138774" y="2660904"/>
            <a:ext cx="2437526" cy="237911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lang="en-US" sz="1500" dirty="0">
                <a:solidFill>
                  <a:srgbClr val="27313D"/>
                </a:solidFill>
                <a:latin typeface="Aptos"/>
              </a:rPr>
              <a:t>The scatter plot shows that cars with higher horsepower tend to have higher prices.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lang="en-US" sz="1500" dirty="0">
                <a:solidFill>
                  <a:srgbClr val="27313D"/>
                </a:solidFill>
                <a:latin typeface="Aptos"/>
              </a:rPr>
              <a:t>The correlation is strong and positive (0.81).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lang="en-US" sz="1500" dirty="0">
                <a:solidFill>
                  <a:srgbClr val="27313D"/>
                </a:solidFill>
                <a:latin typeface="Aptos"/>
              </a:rPr>
              <a:t> However, other factors also affect price, and the dataset is small.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CMSE 830 • Midterm Project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9EBBC1-61D6-0B99-FCA1-9307310CE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32" y="1874520"/>
            <a:ext cx="5516982" cy="35437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034E80-525F-442D-7A32-44A745A9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336" y="1883664"/>
            <a:ext cx="3257473" cy="26996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89994"/>
                </a:solidFill>
                <a:latin typeface="Aptos"/>
              </a:defRPr>
            </a:pPr>
            <a:r>
              <a:rPr sz="1600" dirty="0"/>
              <a:t>03 • EDA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22376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62740"/>
                </a:solidFill>
                <a:latin typeface="Aptos"/>
              </a:defRPr>
            </a:pPr>
            <a:r>
              <a:rPr dirty="0"/>
              <a:t>Question 2: How do prices differ by manufacturer?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62456"/>
            <a:ext cx="1088136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E6C7A"/>
                </a:solidFill>
                <a:latin typeface="Aptos"/>
              </a:defRPr>
            </a:pPr>
            <a:r>
              <a:rPr lang="en-US" dirty="0"/>
              <a:t>I used a</a:t>
            </a:r>
            <a:r>
              <a:rPr dirty="0"/>
              <a:t> box plot </a:t>
            </a:r>
            <a:r>
              <a:rPr lang="en-US" dirty="0"/>
              <a:t>to compare</a:t>
            </a:r>
            <a:r>
              <a:rPr dirty="0"/>
              <a:t> the distribution of a numeric variable across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4" y="1714500"/>
            <a:ext cx="3337560" cy="39136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95945" y="2066544"/>
            <a:ext cx="45719" cy="3209544"/>
          </a:xfrm>
          <a:prstGeom prst="rect">
            <a:avLst/>
          </a:prstGeom>
          <a:solidFill>
            <a:srgbClr val="EFB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34855" y="1799082"/>
            <a:ext cx="299008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dirty="0"/>
              <a:t>How to interpret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8924544" y="2340108"/>
            <a:ext cx="2971800" cy="284077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lang="en-US" sz="1500" dirty="0">
                <a:solidFill>
                  <a:srgbClr val="27313D"/>
                </a:solidFill>
                <a:latin typeface="Aptos"/>
              </a:rPr>
              <a:t>The box plot shows that median prices vary by manufacturer, suggesting an association with price.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lang="en-US" sz="1500" dirty="0">
                <a:solidFill>
                  <a:srgbClr val="27313D"/>
                </a:solidFill>
                <a:latin typeface="Aptos"/>
              </a:rPr>
              <a:t>The summary table shows each manufacturer’s median price and sample size.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lang="en-US" sz="1500" dirty="0">
                <a:solidFill>
                  <a:srgbClr val="27313D"/>
                </a:solidFill>
                <a:latin typeface="Aptos"/>
              </a:rPr>
              <a:t>Other car features also affect price, and manufacturers with few cars may have less reliable comparisons.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CMSE 830 • Midterm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207FD2-18FE-812F-FD6C-0A871182A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6544"/>
            <a:ext cx="8357617" cy="4495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89994"/>
                </a:solidFill>
                <a:latin typeface="Aptos"/>
              </a:defRPr>
            </a:pPr>
            <a:r>
              <a:rPr sz="1600" dirty="0"/>
              <a:t>04 • INTERACTIVE DATA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22376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62740"/>
                </a:solidFill>
                <a:latin typeface="Aptos"/>
              </a:defRPr>
            </a:pPr>
            <a:r>
              <a:rPr dirty="0"/>
              <a:t>A user can explore selected manufacturers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1965960"/>
            <a:ext cx="3520440" cy="34747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818120" y="1965960"/>
            <a:ext cx="73152" cy="3474720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19288" y="2130552"/>
            <a:ext cx="3172968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2532888"/>
            <a:ext cx="3154680" cy="222522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dirty="0"/>
              <a:t>The user chooses one or more manufacturers with a multiselect control.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  <a:defRPr sz="1500" b="0">
                <a:solidFill>
                  <a:srgbClr val="27313D"/>
                </a:solidFill>
                <a:latin typeface="Aptos"/>
              </a:defRPr>
            </a:pPr>
            <a:r>
              <a:rPr dirty="0"/>
              <a:t>The chart and summary table</a:t>
            </a:r>
            <a:r>
              <a:rPr lang="en-US" dirty="0"/>
              <a:t> of the made app will help users to make a better decision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500" b="0">
                <a:solidFill>
                  <a:srgbClr val="27313D"/>
                </a:solidFill>
                <a:latin typeface="Aptos"/>
              </a:defRPr>
            </a:pP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CMSE 830 • Midterm Project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9431524-BD44-AD2D-381B-67A9AEB9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36632"/>
            <a:ext cx="6019800" cy="4828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3093"/>
            <a:ext cx="10789920" cy="7171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89994"/>
                </a:solidFill>
                <a:latin typeface="Aptos"/>
              </a:defRPr>
            </a:pPr>
            <a:r>
              <a:rPr lang="en-US" sz="1600" dirty="0"/>
              <a:t>06 • </a:t>
            </a:r>
            <a:r>
              <a:rPr lang="en-US" sz="1600" b="1" dirty="0"/>
              <a:t>Preliminary Findings &amp; Limitations</a:t>
            </a:r>
          </a:p>
          <a:p>
            <a:pPr>
              <a:spcAft>
                <a:spcPts val="600"/>
              </a:spcAft>
              <a:defRPr sz="1000" b="1">
                <a:solidFill>
                  <a:srgbClr val="289994"/>
                </a:solidFill>
                <a:latin typeface="Aptos"/>
              </a:defRPr>
            </a:pPr>
            <a:r>
              <a:rPr sz="16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905720"/>
            <a:ext cx="10972800" cy="4247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rPr lang="en-US" dirty="0"/>
              <a:t>What can I responsibly say so far?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34747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30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3172968" cy="4247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r>
              <a:rPr lang="en-US" b="1" dirty="0"/>
              <a:t>1. Analysis in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24137"/>
            <a:ext cx="3154680" cy="187128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Horsepower-versus-price scatter plot.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Manufacturer price summary.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Manufacturer selection control in the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42376" y="1828800"/>
            <a:ext cx="3520440" cy="34747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05800" y="1788116"/>
            <a:ext cx="73152" cy="3474720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71560" y="1983510"/>
            <a:ext cx="317296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0"/>
                </a:solidFill>
                <a:latin typeface="Aptos"/>
              </a:defRPr>
            </a:pPr>
            <a:r>
              <a:rPr lang="en-US" sz="1700" b="1" dirty="0">
                <a:solidFill>
                  <a:srgbClr val="162740"/>
                </a:solidFill>
                <a:latin typeface="Aptos"/>
              </a:rPr>
              <a:t>3. Limitations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543544" y="2500884"/>
            <a:ext cx="3154680" cy="260994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dataset contains 205 cars and may not reflect today’s used-car market.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Missing prices or horsepower and extreme values may affect comparisons.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Small manufacturer groups make comparisons less reliable.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E6C7A"/>
                </a:solidFill>
                <a:latin typeface="Aptos"/>
              </a:defRPr>
            </a:pPr>
            <a:r>
              <a:t>CMSE 830 • Midterm Project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DC4B5878-8A1C-4EC5-962C-72206A370B70}"/>
              </a:ext>
            </a:extLst>
          </p:cNvPr>
          <p:cNvSpPr/>
          <p:nvPr/>
        </p:nvSpPr>
        <p:spPr>
          <a:xfrm>
            <a:off x="4450080" y="1828800"/>
            <a:ext cx="3520440" cy="34747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Horsepower and price show a positive association.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Median prices vary across manufacturers.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should be verified using the plots and summary table.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CB27A6-2A7D-24C1-0F2C-D505966EFFAA}"/>
              </a:ext>
            </a:extLst>
          </p:cNvPr>
          <p:cNvSpPr/>
          <p:nvPr/>
        </p:nvSpPr>
        <p:spPr>
          <a:xfrm>
            <a:off x="4373880" y="1867060"/>
            <a:ext cx="73152" cy="3474720"/>
          </a:xfrm>
          <a:prstGeom prst="rect">
            <a:avLst/>
          </a:prstGeom>
          <a:solidFill>
            <a:srgbClr val="289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53B53A-3766-F071-4DAD-8BE84ED62A7E}"/>
              </a:ext>
            </a:extLst>
          </p:cNvPr>
          <p:cNvSpPr txBox="1"/>
          <p:nvPr/>
        </p:nvSpPr>
        <p:spPr>
          <a:xfrm>
            <a:off x="4614672" y="2037672"/>
            <a:ext cx="3300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2. Preliminary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3201924" y="1682496"/>
            <a:ext cx="5084064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4000" dirty="0"/>
              <a:t>Thank you</a:t>
            </a:r>
            <a:r>
              <a:rPr lang="en-US" sz="4000" dirty="0"/>
              <a:t>!</a:t>
            </a:r>
            <a:r>
              <a:rPr sz="4000" dirty="0"/>
              <a:t> </a:t>
            </a:r>
            <a:endParaRPr lang="en-US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F34E30-2F2A-774B-1A85-CC13F578F84F}"/>
              </a:ext>
            </a:extLst>
          </p:cNvPr>
          <p:cNvSpPr txBox="1"/>
          <p:nvPr/>
        </p:nvSpPr>
        <p:spPr>
          <a:xfrm>
            <a:off x="3834384" y="3578358"/>
            <a:ext cx="5236464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3200" dirty="0"/>
              <a:t>Questions</a:t>
            </a:r>
            <a:r>
              <a:rPr lang="en-US" sz="3200" dirty="0"/>
              <a:t> &amp; comments</a:t>
            </a:r>
            <a:r>
              <a:rPr sz="3200"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561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Masoud moradi</cp:lastModifiedBy>
  <cp:revision>4</cp:revision>
  <dcterms:created xsi:type="dcterms:W3CDTF">2013-01-27T09:14:16Z</dcterms:created>
  <dcterms:modified xsi:type="dcterms:W3CDTF">2026-10-15T19:42:15Z</dcterms:modified>
  <cp:category/>
</cp:coreProperties>
</file>